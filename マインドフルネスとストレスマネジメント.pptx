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app.xml" Type="http://schemas.openxmlformats.org/officeDocument/2006/relationships/extended-properties"/><Relationship Id="rId3" Target="docProps/core.xml" Type="http://schemas.openxmlformats.org/package/2006/relationships/metadata/core-properties"/><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Lst>
  <p:sldSz cx="12179300" cy="6851650"/>
  <p:notesSz cx="12179300" cy="685165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2" Target="theme/theme1.xml" Type="http://schemas.openxmlformats.org/officeDocument/2006/relationships/theme"/><Relationship Id="rId3" Target="viewProps.xml" Type="http://schemas.openxmlformats.org/officeDocument/2006/relationships/viewProps"/><Relationship Id="rId4" Target="presProps.xml" Type="http://schemas.openxmlformats.org/officeDocument/2006/relationships/presProps"/><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923" y="2124011"/>
            <a:ext cx="10434003" cy="1438846"/>
          </a:xfrm>
          <a:prstGeom prst="rect">
            <a:avLst/>
          </a:prstGeom>
        </p:spPr>
        <p:txBody>
          <a:bodyPr wrap="square" lIns="0" tIns="0" rIns="0" bIns="0">
            <a:spAutoFit/>
          </a:bodyPr>
          <a:lstStyle>
            <a:lvl1pPr>
              <a:defRPr sz="3500" b="0" i="0">
                <a:solidFill>
                  <a:srgbClr val="15803C"/>
                </a:solidFill>
                <a:latin typeface="Noto Sans JP Thin"/>
                <a:cs typeface="Noto Sans JP Thin"/>
              </a:defRPr>
            </a:lvl1pPr>
          </a:lstStyle>
          <a:p>
            <a:pPr>
              <a:defRPr>
                <a:latin typeface="Noto Sans JP"/>
                <a:ea typeface="Noto Sans JP"/>
                <a:cs typeface="Noto Sans JP"/>
              </a:defRPr>
            </a:pPr>
          </a:p>
        </p:txBody>
      </p:sp>
      <p:sp>
        <p:nvSpPr>
          <p:cNvPr id="3" name="Holder 3"/>
          <p:cNvSpPr>
            <a:spLocks noGrp="1"/>
          </p:cNvSpPr>
          <p:nvPr>
            <p:ph type="subTitle" idx="4"/>
          </p:nvPr>
        </p:nvSpPr>
        <p:spPr>
          <a:xfrm>
            <a:off x="1827847" y="3836924"/>
            <a:ext cx="8606155" cy="1712912"/>
          </a:xfrm>
          <a:prstGeom prst="rect">
            <a:avLst/>
          </a:prstGeom>
        </p:spPr>
        <p:txBody>
          <a:bodyPr wrap="square" lIns="0" tIns="0" rIns="0" bIns="0">
            <a:spAutoFit/>
          </a:bodyPr>
          <a:lstStyle>
            <a:lvl1pPr>
              <a:defRPr/>
            </a:lvl1pPr>
          </a:lstStyle>
          <a:p>
            <a:pPr>
              <a:defRPr>
                <a:latin typeface="Noto Sans JP"/>
                <a:ea typeface="Noto Sans JP"/>
                <a:cs typeface="Noto Sans JP"/>
              </a:defRPr>
            </a:pPr>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a:pPr>
              <a:defRPr>
                <a:latin typeface="Noto Sans JP"/>
                <a:ea typeface="Noto Sans JP"/>
                <a:cs typeface="Noto Sans JP"/>
              </a:defRPr>
            </a:pP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rgbClr val="15803C"/>
                </a:solidFill>
                <a:latin typeface="Noto Sans JP Thin"/>
                <a:cs typeface="Noto Sans JP Thin"/>
              </a:defRPr>
            </a:lvl1pPr>
          </a:lstStyle>
          <a:p>
            <a:pPr>
              <a:defRPr>
                <a:latin typeface="Noto Sans JP"/>
                <a:ea typeface="Noto Sans JP"/>
                <a:cs typeface="Noto Sans JP"/>
              </a:defRPr>
            </a:pPr>
          </a:p>
        </p:txBody>
      </p:sp>
      <p:sp>
        <p:nvSpPr>
          <p:cNvPr id="3" name="Holder 3"/>
          <p:cNvSpPr>
            <a:spLocks noGrp="1"/>
          </p:cNvSpPr>
          <p:nvPr>
            <p:ph type="body" idx="1"/>
          </p:nvPr>
        </p:nvSpPr>
        <p:spPr/>
        <p:txBody>
          <a:bodyPr lIns="0" tIns="0" rIns="0" bIns="0"/>
          <a:lstStyle>
            <a:lvl1pPr>
              <a:defRPr/>
            </a:lvl1pPr>
          </a:lstStyle>
          <a:p>
            <a:pPr>
              <a:defRPr>
                <a:latin typeface="Noto Sans JP"/>
                <a:ea typeface="Noto Sans JP"/>
                <a:cs typeface="Noto Sans JP"/>
              </a:defRPr>
            </a:pPr>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a:pPr>
              <a:defRPr>
                <a:latin typeface="Noto Sans JP"/>
                <a:ea typeface="Noto Sans JP"/>
                <a:cs typeface="Noto Sans JP"/>
              </a:defRPr>
            </a:pP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rgbClr val="15803C"/>
                </a:solidFill>
                <a:latin typeface="Noto Sans JP Thin"/>
                <a:cs typeface="Noto Sans JP Thin"/>
              </a:defRPr>
            </a:lvl1pPr>
          </a:lstStyle>
          <a:p>
            <a:pPr>
              <a:defRPr>
                <a:latin typeface="Noto Sans JP"/>
                <a:ea typeface="Noto Sans JP"/>
                <a:cs typeface="Noto Sans JP"/>
              </a:defRPr>
            </a:pPr>
          </a:p>
        </p:txBody>
      </p:sp>
      <p:sp>
        <p:nvSpPr>
          <p:cNvPr id="3" name="Holder 3"/>
          <p:cNvSpPr>
            <a:spLocks noGrp="1"/>
          </p:cNvSpPr>
          <p:nvPr>
            <p:ph idx="2" sz="half"/>
          </p:nvPr>
        </p:nvSpPr>
        <p:spPr>
          <a:xfrm>
            <a:off x="609282" y="1575879"/>
            <a:ext cx="5300758" cy="4522089"/>
          </a:xfrm>
          <a:prstGeom prst="rect">
            <a:avLst/>
          </a:prstGeom>
        </p:spPr>
        <p:txBody>
          <a:bodyPr wrap="square" lIns="0" tIns="0" rIns="0" bIns="0">
            <a:spAutoFit/>
          </a:bodyPr>
          <a:lstStyle>
            <a:lvl1pPr>
              <a:defRPr/>
            </a:lvl1pPr>
          </a:lstStyle>
          <a:p>
            <a:pPr>
              <a:defRPr>
                <a:latin typeface="Noto Sans JP"/>
                <a:ea typeface="Noto Sans JP"/>
                <a:cs typeface="Noto Sans JP"/>
              </a:defRPr>
            </a:pPr>
          </a:p>
        </p:txBody>
      </p:sp>
      <p:sp>
        <p:nvSpPr>
          <p:cNvPr id="4" name="Holder 4"/>
          <p:cNvSpPr>
            <a:spLocks noGrp="1"/>
          </p:cNvSpPr>
          <p:nvPr>
            <p:ph idx="3" sz="half"/>
          </p:nvPr>
        </p:nvSpPr>
        <p:spPr>
          <a:xfrm>
            <a:off x="6275609" y="1575879"/>
            <a:ext cx="5300758" cy="4522089"/>
          </a:xfrm>
          <a:prstGeom prst="rect">
            <a:avLst/>
          </a:prstGeom>
        </p:spPr>
        <p:txBody>
          <a:bodyPr wrap="square" lIns="0" tIns="0" rIns="0" bIns="0">
            <a:spAutoFit/>
          </a:bodyPr>
          <a:lstStyle>
            <a:lvl1pPr>
              <a:defRPr/>
            </a:lvl1pPr>
          </a:lstStyle>
          <a:p>
            <a:pPr>
              <a:defRPr>
                <a:latin typeface="Noto Sans JP"/>
                <a:ea typeface="Noto Sans JP"/>
                <a:cs typeface="Noto Sans JP"/>
              </a:defRPr>
            </a:pPr>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a:pPr>
              <a:defRPr>
                <a:latin typeface="Noto Sans JP"/>
                <a:ea typeface="Noto Sans JP"/>
                <a:cs typeface="Noto Sans JP"/>
              </a:defRPr>
            </a:pP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rgbClr val="15803C"/>
                </a:solidFill>
                <a:latin typeface="Noto Sans JP Thin"/>
                <a:cs typeface="Noto Sans JP Thin"/>
              </a:defRPr>
            </a:lvl1pPr>
          </a:lstStyle>
          <a:p>
            <a:pPr>
              <a:defRPr>
                <a:latin typeface="Noto Sans JP"/>
                <a:ea typeface="Noto Sans JP"/>
                <a:cs typeface="Noto Sans JP"/>
              </a:defRPr>
            </a:pPr>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a:pPr>
              <a:defRPr>
                <a:latin typeface="Noto Sans JP"/>
                <a:ea typeface="Noto Sans JP"/>
                <a:cs typeface="Noto Sans JP"/>
              </a:defRPr>
            </a:pP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a:pPr>
              <a:defRPr>
                <a:latin typeface="Noto Sans JP"/>
                <a:ea typeface="Noto Sans JP"/>
                <a:cs typeface="Noto Sans JP"/>
              </a:defRPr>
            </a:pP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theme/theme1.xml" Type="http://schemas.openxmlformats.org/officeDocument/2006/relationships/theme"/><Relationship Id="rId7" Target="../media/image1.pn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81205" cy="6848475"/>
          </a:xfrm>
          <a:custGeom>
            <a:avLst/>
            <a:gdLst/>
            <a:ahLst/>
            <a:cxnLst/>
            <a:rect l="l" t="t" r="r" b="b"/>
            <a:pathLst>
              <a:path w="12181205" h="6848475">
                <a:moveTo>
                  <a:pt x="12180802" y="6848192"/>
                </a:moveTo>
                <a:lnTo>
                  <a:pt x="0" y="6848192"/>
                </a:lnTo>
                <a:lnTo>
                  <a:pt x="0" y="0"/>
                </a:lnTo>
                <a:lnTo>
                  <a:pt x="12180802" y="0"/>
                </a:lnTo>
                <a:lnTo>
                  <a:pt x="12180802" y="6848192"/>
                </a:lnTo>
                <a:close/>
              </a:path>
            </a:pathLst>
          </a:custGeom>
          <a:solidFill>
            <a:srgbClr val="F7FFFE"/>
          </a:solidFill>
        </p:spPr>
        <p:txBody>
          <a:bodyPr wrap="square" lIns="0" tIns="0" rIns="0" bIns="0" rtlCol="0"/>
          <a:lstStyle/>
          <a:p>
            <a:pPr>
              <a:defRPr>
                <a:latin typeface="Noto Sans JP"/>
                <a:ea typeface="Noto Sans JP"/>
                <a:cs typeface="Noto Sans JP"/>
              </a:defRPr>
            </a:pPr>
          </a:p>
        </p:txBody>
      </p:sp>
      <p:pic>
        <p:nvPicPr>
          <p:cNvPr id="17" name="bg object 17"/>
          <p:cNvPicPr/>
          <p:nvPr/>
        </p:nvPicPr>
        <p:blipFill>
          <a:blip r:embed="rId7" cstate="print"/>
          <a:stretch>
            <a:fillRect/>
          </a:stretch>
        </p:blipFill>
        <p:spPr>
          <a:xfrm>
            <a:off x="0" y="0"/>
            <a:ext cx="11974982" cy="6735927"/>
          </a:xfrm>
          <a:prstGeom prst="rect">
            <a:avLst/>
          </a:prstGeom>
        </p:spPr>
      </p:pic>
      <p:sp>
        <p:nvSpPr>
          <p:cNvPr id="2" name="Holder 2"/>
          <p:cNvSpPr>
            <a:spLocks noGrp="1"/>
          </p:cNvSpPr>
          <p:nvPr>
            <p:ph type="title"/>
          </p:nvPr>
        </p:nvSpPr>
        <p:spPr>
          <a:xfrm>
            <a:off x="2768536" y="52788"/>
            <a:ext cx="6821805" cy="942376"/>
          </a:xfrm>
          <a:prstGeom prst="rect">
            <a:avLst/>
          </a:prstGeom>
        </p:spPr>
        <p:txBody>
          <a:bodyPr wrap="square" lIns="0" tIns="0" rIns="0" bIns="0">
            <a:spAutoFit/>
          </a:bodyPr>
          <a:lstStyle>
            <a:lvl1pPr>
              <a:defRPr sz="3500" b="0" i="0">
                <a:solidFill>
                  <a:srgbClr val="15803C"/>
                </a:solidFill>
                <a:latin typeface="Noto Sans JP Thin"/>
                <a:cs typeface="Noto Sans JP Thin"/>
              </a:defRPr>
            </a:lvl1pPr>
          </a:lstStyle>
          <a:p>
            <a:pPr>
              <a:defRPr>
                <a:latin typeface="Noto Sans JP"/>
                <a:ea typeface="Noto Sans JP"/>
                <a:cs typeface="Noto Sans JP"/>
              </a:defRPr>
            </a:pPr>
          </a:p>
        </p:txBody>
      </p:sp>
      <p:sp>
        <p:nvSpPr>
          <p:cNvPr id="3" name="Holder 3"/>
          <p:cNvSpPr>
            <a:spLocks noGrp="1"/>
          </p:cNvSpPr>
          <p:nvPr>
            <p:ph type="body" idx="1"/>
          </p:nvPr>
        </p:nvSpPr>
        <p:spPr>
          <a:xfrm>
            <a:off x="609282" y="1575879"/>
            <a:ext cx="10967085" cy="4522089"/>
          </a:xfrm>
          <a:prstGeom prst="rect">
            <a:avLst/>
          </a:prstGeom>
        </p:spPr>
        <p:txBody>
          <a:bodyPr wrap="square" lIns="0" tIns="0" rIns="0" bIns="0">
            <a:spAutoFit/>
          </a:bodyPr>
          <a:lstStyle>
            <a:lvl1pPr>
              <a:defRPr/>
            </a:lvl1pPr>
          </a:lstStyle>
          <a:p>
            <a:pPr>
              <a:defRPr>
                <a:latin typeface="Noto Sans JP"/>
                <a:ea typeface="Noto Sans JP"/>
                <a:cs typeface="Noto Sans JP"/>
              </a:defRPr>
            </a:pPr>
          </a:p>
        </p:txBody>
      </p:sp>
      <p:sp>
        <p:nvSpPr>
          <p:cNvPr id="4" name="Holder 4"/>
          <p:cNvSpPr>
            <a:spLocks noGrp="1"/>
          </p:cNvSpPr>
          <p:nvPr>
            <p:ph type="ftr" idx="5" sz="quarter"/>
          </p:nvPr>
        </p:nvSpPr>
        <p:spPr>
          <a:xfrm>
            <a:off x="4143121" y="6372034"/>
            <a:ext cx="3899408" cy="342582"/>
          </a:xfrm>
          <a:prstGeom prst="rect">
            <a:avLst/>
          </a:prstGeom>
        </p:spPr>
        <p:txBody>
          <a:bodyPr wrap="square" lIns="0" tIns="0" rIns="0" bIns="0">
            <a:spAutoFit/>
          </a:bodyPr>
          <a:lstStyle>
            <a:lvl1pPr algn="ctr">
              <a:defRPr>
                <a:solidFill>
                  <a:schemeClr val="tx1">
                    <a:tint val="75000"/>
                  </a:schemeClr>
                </a:solidFill>
              </a:defRPr>
            </a:lvl1pPr>
          </a:lstStyle>
          <a:p>
            <a:pPr>
              <a:defRPr>
                <a:latin typeface="Noto Sans JP"/>
                <a:ea typeface="Noto Sans JP"/>
                <a:cs typeface="Noto Sans JP"/>
              </a:defRPr>
            </a:pPr>
          </a:p>
        </p:txBody>
      </p:sp>
      <p:sp>
        <p:nvSpPr>
          <p:cNvPr id="5" name="Holder 5"/>
          <p:cNvSpPr>
            <a:spLocks noGrp="1"/>
          </p:cNvSpPr>
          <p:nvPr>
            <p:ph type="dt" idx="6" sz="half"/>
          </p:nvPr>
        </p:nvSpPr>
        <p:spPr>
          <a:xfrm>
            <a:off x="609282" y="6372034"/>
            <a:ext cx="2802699" cy="342582"/>
          </a:xfrm>
          <a:prstGeom prst="rect">
            <a:avLst/>
          </a:prstGeom>
        </p:spPr>
        <p:txBody>
          <a:bodyPr wrap="square" lIns="0" tIns="0" rIns="0" bIns="0">
            <a:spAutoFit/>
          </a:bodyPr>
          <a:lstStyle>
            <a:lvl1pPr algn="l">
              <a:defRPr>
                <a:solidFill>
                  <a:schemeClr val="tx1">
                    <a:tint val="75000"/>
                  </a:schemeClr>
                </a:solidFill>
              </a:defRPr>
            </a:lvl1pPr>
          </a:lstStyle>
          <a:p>
            <a:pPr>
              <a:defRPr>
                <a:latin typeface="Noto Sans JP"/>
                <a:ea typeface="Noto Sans JP"/>
                <a:cs typeface="Noto Sans JP"/>
              </a:defRPr>
            </a:pPr>
            <a:fld id="{1D8BD707-D9CF-40AE-B4C6-C98DA3205C09}" type="datetimeFigureOut">
              <a:rPr lang="en-US">
                <a:latin typeface="Noto Sans JP"/>
                <a:ea typeface="Noto Sans JP"/>
                <a:cs typeface="Noto Sans JP"/>
              </a:rPr>
            </a:fld>
          </a:p>
        </p:txBody>
      </p:sp>
      <p:sp>
        <p:nvSpPr>
          <p:cNvPr id="6" name="Holder 6"/>
          <p:cNvSpPr>
            <a:spLocks noGrp="1"/>
          </p:cNvSpPr>
          <p:nvPr>
            <p:ph type="sldNum" idx="7" sz="quarter"/>
          </p:nvPr>
        </p:nvSpPr>
        <p:spPr>
          <a:xfrm>
            <a:off x="8773668" y="6372034"/>
            <a:ext cx="2802699" cy="342582"/>
          </a:xfrm>
          <a:prstGeom prst="rect">
            <a:avLst/>
          </a:prstGeom>
        </p:spPr>
        <p:txBody>
          <a:bodyPr wrap="square" lIns="0" tIns="0" rIns="0" bIns="0">
            <a:spAutoFit/>
          </a:bodyPr>
          <a:lstStyle>
            <a:lvl1pPr algn="r">
              <a:defRPr>
                <a:solidFill>
                  <a:schemeClr val="tx1">
                    <a:tint val="75000"/>
                  </a:schemeClr>
                </a:solidFill>
              </a:defRPr>
            </a:lvl1pPr>
          </a:lstStyle>
          <a:p>
            <a:pPr>
              <a:defRPr>
                <a:latin typeface="Noto Sans JP"/>
                <a:ea typeface="Noto Sans JP"/>
                <a:cs typeface="Noto Sans JP"/>
              </a:defRPr>
            </a:pPr>
            <a:fld id="{B6F15528-21DE-4FAA-801E-634DDDAF4B2B}" type="slidenum">
              <a:rPr>
                <a:latin typeface="Noto Sans JP"/>
                <a:ea typeface="Noto Sans JP"/>
                <a:cs typeface="Noto Sans JP"/>
              </a:rPr>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object 2"/>
          <p:cNvPicPr/>
          <p:nvPr/>
        </p:nvPicPr>
        <p:blipFill>
          <a:blip cstate="print" r:embed="rId2"/>
          <a:stretch>
            <a:fillRect/>
          </a:stretch>
        </p:blipFill>
        <p:spPr>
          <a:xfrm>
            <a:off x="2403328" y="57349"/>
            <a:ext cx="561974" cy="495299"/>
          </a:xfrm>
          <a:prstGeom prst="rect">
            <a:avLst/>
          </a:prstGeom>
        </p:spPr>
      </p:pic>
      <p:sp>
        <p:nvSpPr>
          <p:cNvPr descr="$PPTXTitle" id="3" name="object 3"/>
          <p:cNvSpPr txBox="1">
            <a:spLocks noGrp="1"/>
          </p:cNvSpPr>
          <p:nvPr>
            <p:ph type="title"/>
          </p:nvPr>
        </p:nvSpPr>
        <p:spPr>
          <a:xfrm>
            <a:off x="3176486" y="296030"/>
            <a:ext cx="5698490" cy="699135"/>
          </a:xfrm>
          <a:prstGeom prst="rect"/>
        </p:spPr>
        <p:txBody>
          <a:bodyPr bIns="0" lIns="0" rIns="0" rtlCol="0" tIns="15240" vert="horz" wrap="square">
            <a:spAutoFit/>
          </a:bodyPr>
          <a:lstStyle/>
          <a:p>
            <a:pPr marL="12700">
              <a:lnSpc>
                <a:spcPct val="100000"/>
              </a:lnSpc>
              <a:spcBef>
                <a:spcPts val="120"/>
              </a:spcBef>
              <a:defRPr>
                <a:latin typeface="Noto Sans JP"/>
                <a:ea typeface="Noto Sans JP"/>
                <a:cs typeface="Noto Sans JP"/>
              </a:defRPr>
            </a:pPr>
            <a:r>
              <a:rPr dirty="0" spc="-30" sz="4400">
                <a:solidFill>
                  <a:srgbClr val="16A24A"/>
                </a:solidFill>
                <a:latin typeface="Noto Sans JP"/>
                <a:ea typeface="Noto Sans JP"/>
                <a:cs typeface="Noto Sans JP"/>
              </a:rPr>
              <a:t>ストレスマネジメント</a:t>
            </a:r>
            <a:endParaRPr sz="4400"/>
          </a:p>
        </p:txBody>
      </p:sp>
      <p:pic>
        <p:nvPicPr>
          <p:cNvPr id="4" name="object 4"/>
          <p:cNvPicPr/>
          <p:nvPr/>
        </p:nvPicPr>
        <p:blipFill>
          <a:blip cstate="print" r:embed="rId3"/>
          <a:stretch>
            <a:fillRect/>
          </a:stretch>
        </p:blipFill>
        <p:spPr>
          <a:xfrm>
            <a:off x="9010179" y="63699"/>
            <a:ext cx="561974" cy="488949"/>
          </a:xfrm>
          <a:prstGeom prst="rect">
            <a:avLst/>
          </a:prstGeom>
        </p:spPr>
      </p:pic>
      <p:grpSp>
        <p:nvGrpSpPr>
          <p:cNvPr id="5" name="object 5"/>
          <p:cNvGrpSpPr/>
          <p:nvPr/>
        </p:nvGrpSpPr>
        <p:grpSpPr>
          <a:xfrm>
            <a:off x="2542031" y="2285999"/>
            <a:ext cx="6901180" cy="3060700"/>
            <a:chOff x="2542031" y="2285999"/>
            <a:chExt cx="6901180" cy="3060700"/>
          </a:xfrm>
        </p:grpSpPr>
        <p:sp>
          <p:nvSpPr>
            <p:cNvPr id="6" name="object 6"/>
            <p:cNvSpPr/>
            <p:nvPr/>
          </p:nvSpPr>
          <p:spPr>
            <a:xfrm>
              <a:off x="2542019" y="2286012"/>
              <a:ext cx="6901180" cy="3060700"/>
            </a:xfrm>
            <a:custGeom>
              <a:avLst/>
              <a:gdLst/>
              <a:ahLst/>
              <a:cxnLst/>
              <a:rect b="b" l="l" r="r" t="t"/>
              <a:pathLst>
                <a:path h="3060700" w="6901180">
                  <a:moveTo>
                    <a:pt x="6900672" y="0"/>
                  </a:moveTo>
                  <a:lnTo>
                    <a:pt x="6760413" y="0"/>
                  </a:lnTo>
                  <a:lnTo>
                    <a:pt x="6760413" y="176428"/>
                  </a:lnTo>
                  <a:lnTo>
                    <a:pt x="6760413" y="2732621"/>
                  </a:lnTo>
                  <a:lnTo>
                    <a:pt x="6751929" y="2775280"/>
                  </a:lnTo>
                  <a:lnTo>
                    <a:pt x="6727774" y="2811437"/>
                  </a:lnTo>
                  <a:lnTo>
                    <a:pt x="6691604" y="2835605"/>
                  </a:lnTo>
                  <a:lnTo>
                    <a:pt x="6648958" y="2844088"/>
                  </a:lnTo>
                  <a:lnTo>
                    <a:pt x="251028" y="2844088"/>
                  </a:lnTo>
                  <a:lnTo>
                    <a:pt x="208381" y="2835605"/>
                  </a:lnTo>
                  <a:lnTo>
                    <a:pt x="172212" y="2811437"/>
                  </a:lnTo>
                  <a:lnTo>
                    <a:pt x="148056" y="2775280"/>
                  </a:lnTo>
                  <a:lnTo>
                    <a:pt x="139573" y="2732621"/>
                  </a:lnTo>
                  <a:lnTo>
                    <a:pt x="139573" y="176428"/>
                  </a:lnTo>
                  <a:lnTo>
                    <a:pt x="148056" y="133769"/>
                  </a:lnTo>
                  <a:lnTo>
                    <a:pt x="172212" y="97612"/>
                  </a:lnTo>
                  <a:lnTo>
                    <a:pt x="208381" y="73456"/>
                  </a:lnTo>
                  <a:lnTo>
                    <a:pt x="251028" y="64973"/>
                  </a:lnTo>
                  <a:lnTo>
                    <a:pt x="6648958" y="64973"/>
                  </a:lnTo>
                  <a:lnTo>
                    <a:pt x="6691604" y="73456"/>
                  </a:lnTo>
                  <a:lnTo>
                    <a:pt x="6727774" y="97612"/>
                  </a:lnTo>
                  <a:lnTo>
                    <a:pt x="6751929" y="133769"/>
                  </a:lnTo>
                  <a:lnTo>
                    <a:pt x="6760413" y="176428"/>
                  </a:lnTo>
                  <a:lnTo>
                    <a:pt x="6760413" y="0"/>
                  </a:lnTo>
                  <a:lnTo>
                    <a:pt x="0" y="0"/>
                  </a:lnTo>
                  <a:lnTo>
                    <a:pt x="0" y="3060179"/>
                  </a:lnTo>
                  <a:lnTo>
                    <a:pt x="6900672" y="3060179"/>
                  </a:lnTo>
                  <a:lnTo>
                    <a:pt x="6900672" y="2844088"/>
                  </a:lnTo>
                  <a:lnTo>
                    <a:pt x="6900672" y="64973"/>
                  </a:lnTo>
                  <a:lnTo>
                    <a:pt x="6900672"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7" name="object 7"/>
            <p:cNvSpPr/>
            <p:nvPr/>
          </p:nvSpPr>
          <p:spPr>
            <a:xfrm>
              <a:off x="2674164" y="2343542"/>
              <a:ext cx="6635750" cy="2794000"/>
            </a:xfrm>
            <a:custGeom>
              <a:avLst/>
              <a:gdLst/>
              <a:ahLst/>
              <a:cxnLst/>
              <a:rect b="b" l="l" r="r" t="t"/>
              <a:pathLst>
                <a:path h="2794000" w="6635750">
                  <a:moveTo>
                    <a:pt x="6524621" y="2793981"/>
                  </a:moveTo>
                  <a:lnTo>
                    <a:pt x="111086" y="2793981"/>
                  </a:lnTo>
                  <a:lnTo>
                    <a:pt x="103354" y="2793220"/>
                  </a:lnTo>
                  <a:lnTo>
                    <a:pt x="66182" y="2781944"/>
                  </a:lnTo>
                  <a:lnTo>
                    <a:pt x="29302" y="2753638"/>
                  </a:lnTo>
                  <a:lnTo>
                    <a:pt x="6062" y="2713374"/>
                  </a:lnTo>
                  <a:lnTo>
                    <a:pt x="0" y="2682895"/>
                  </a:lnTo>
                  <a:lnTo>
                    <a:pt x="0" y="2675089"/>
                  </a:lnTo>
                  <a:lnTo>
                    <a:pt x="0" y="111086"/>
                  </a:lnTo>
                  <a:lnTo>
                    <a:pt x="12037" y="66182"/>
                  </a:lnTo>
                  <a:lnTo>
                    <a:pt x="40343" y="29302"/>
                  </a:lnTo>
                  <a:lnTo>
                    <a:pt x="80606" y="6062"/>
                  </a:lnTo>
                  <a:lnTo>
                    <a:pt x="111086" y="0"/>
                  </a:lnTo>
                  <a:lnTo>
                    <a:pt x="6524621" y="0"/>
                  </a:lnTo>
                  <a:lnTo>
                    <a:pt x="6569523" y="12037"/>
                  </a:lnTo>
                  <a:lnTo>
                    <a:pt x="6606403" y="40343"/>
                  </a:lnTo>
                  <a:lnTo>
                    <a:pt x="6629643" y="80606"/>
                  </a:lnTo>
                  <a:lnTo>
                    <a:pt x="6635706" y="111086"/>
                  </a:lnTo>
                  <a:lnTo>
                    <a:pt x="6635706" y="2682895"/>
                  </a:lnTo>
                  <a:lnTo>
                    <a:pt x="6623668" y="2727799"/>
                  </a:lnTo>
                  <a:lnTo>
                    <a:pt x="6595363" y="2764678"/>
                  </a:lnTo>
                  <a:lnTo>
                    <a:pt x="6555099" y="2787918"/>
                  </a:lnTo>
                  <a:lnTo>
                    <a:pt x="6532352" y="2793220"/>
                  </a:lnTo>
                  <a:lnTo>
                    <a:pt x="6524621" y="2793981"/>
                  </a:lnTo>
                  <a:close/>
                </a:path>
              </a:pathLst>
            </a:custGeom>
            <a:solidFill>
              <a:srgbClr val="FFFFFF"/>
            </a:solidFill>
          </p:spPr>
          <p:txBody>
            <a:bodyPr bIns="0" lIns="0" rIns="0" rtlCol="0" tIns="0" wrap="square"/>
            <a:lstStyle/>
            <a:p>
              <a:pPr>
                <a:defRPr>
                  <a:latin typeface="Noto Sans JP"/>
                  <a:ea typeface="Noto Sans JP"/>
                  <a:cs typeface="Noto Sans JP"/>
                </a:defRPr>
              </a:pPr>
            </a:p>
          </p:txBody>
        </p:sp>
      </p:grpSp>
      <p:sp>
        <p:nvSpPr>
          <p:cNvPr id="8" name="object 8"/>
          <p:cNvSpPr txBox="1"/>
          <p:nvPr/>
        </p:nvSpPr>
        <p:spPr>
          <a:xfrm>
            <a:off x="4370084" y="2714866"/>
            <a:ext cx="3242945" cy="429895"/>
          </a:xfrm>
          <a:prstGeom prst="rect">
            <a:avLst/>
          </a:prstGeom>
        </p:spPr>
        <p:txBody>
          <a:bodyPr bIns="0" lIns="0" rIns="0" rtlCol="0" tIns="12700" vert="horz" wrap="square">
            <a:spAutoFit/>
          </a:bodyPr>
          <a:lstStyle/>
          <a:p>
            <a:pPr marL="12700">
              <a:lnSpc>
                <a:spcPct val="100000"/>
              </a:lnSpc>
              <a:spcBef>
                <a:spcPts val="100"/>
              </a:spcBef>
              <a:defRPr>
                <a:latin typeface="Noto Sans JP"/>
                <a:ea typeface="Noto Sans JP"/>
                <a:cs typeface="Noto Sans JP"/>
              </a:defRPr>
            </a:pPr>
            <a:r>
              <a:rPr b="0" dirty="0" spc="-10" sz="2650">
                <a:solidFill>
                  <a:srgbClr val="15803C"/>
                </a:solidFill>
                <a:latin typeface="Noto Sans JP"/>
                <a:ea typeface="Noto Sans JP"/>
                <a:cs typeface="Noto Sans JP"/>
              </a:rPr>
              <a:t>訪問看護師</a:t>
            </a:r>
            <a:r>
              <a:rPr b="0" dirty="0" spc="90" sz="2650">
                <a:solidFill>
                  <a:srgbClr val="15803C"/>
                </a:solidFill>
                <a:latin typeface="Noto Sans JP"/>
                <a:ea typeface="Noto Sans JP"/>
                <a:cs typeface="Noto Sans JP"/>
              </a:rPr>
              <a:t>2</a:t>
            </a:r>
            <a:r>
              <a:rPr b="0" dirty="0" spc="-20" sz="2650">
                <a:solidFill>
                  <a:srgbClr val="15803C"/>
                </a:solidFill>
                <a:latin typeface="Noto Sans JP"/>
                <a:ea typeface="Noto Sans JP"/>
                <a:cs typeface="Noto Sans JP"/>
              </a:rPr>
              <a:t>年目研修</a:t>
            </a:r>
            <a:endParaRPr sz="2650">
              <a:latin typeface="Noto Sans JP Thin"/>
              <a:cs typeface="Noto Sans JP Thin"/>
            </a:endParaRPr>
          </a:p>
        </p:txBody>
      </p:sp>
      <p:grpSp>
        <p:nvGrpSpPr>
          <p:cNvPr id="9" name="object 9"/>
          <p:cNvGrpSpPr/>
          <p:nvPr/>
        </p:nvGrpSpPr>
        <p:grpSpPr>
          <a:xfrm>
            <a:off x="5524225" y="3395067"/>
            <a:ext cx="935355" cy="225425"/>
            <a:chOff x="5524225" y="3395067"/>
            <a:chExt cx="935355" cy="225425"/>
          </a:xfrm>
        </p:grpSpPr>
        <p:pic>
          <p:nvPicPr>
            <p:cNvPr id="10" name="object 10"/>
            <p:cNvPicPr/>
            <p:nvPr/>
          </p:nvPicPr>
          <p:blipFill>
            <a:blip cstate="print" r:embed="rId4"/>
            <a:stretch>
              <a:fillRect/>
            </a:stretch>
          </p:blipFill>
          <p:spPr>
            <a:xfrm>
              <a:off x="5524225" y="3398242"/>
              <a:ext cx="196850" cy="222250"/>
            </a:xfrm>
            <a:prstGeom prst="rect">
              <a:avLst/>
            </a:prstGeom>
          </p:spPr>
        </p:pic>
        <p:pic>
          <p:nvPicPr>
            <p:cNvPr id="11" name="object 11"/>
            <p:cNvPicPr/>
            <p:nvPr/>
          </p:nvPicPr>
          <p:blipFill>
            <a:blip cstate="print" r:embed="rId5"/>
            <a:stretch>
              <a:fillRect/>
            </a:stretch>
          </p:blipFill>
          <p:spPr>
            <a:xfrm>
              <a:off x="5838177" y="3395067"/>
              <a:ext cx="222250" cy="225425"/>
            </a:xfrm>
            <a:prstGeom prst="rect">
              <a:avLst/>
            </a:prstGeom>
          </p:spPr>
        </p:pic>
        <p:pic>
          <p:nvPicPr>
            <p:cNvPr id="12" name="object 12"/>
            <p:cNvPicPr/>
            <p:nvPr/>
          </p:nvPicPr>
          <p:blipFill>
            <a:blip cstate="print" r:embed="rId6"/>
            <a:stretch>
              <a:fillRect/>
            </a:stretch>
          </p:blipFill>
          <p:spPr>
            <a:xfrm>
              <a:off x="6176819" y="3395067"/>
              <a:ext cx="282575" cy="225425"/>
            </a:xfrm>
            <a:prstGeom prst="rect">
              <a:avLst/>
            </a:prstGeom>
          </p:spPr>
        </p:pic>
      </p:grpSp>
      <p:sp>
        <p:nvSpPr>
          <p:cNvPr id="13" name="object 13"/>
          <p:cNvSpPr txBox="1"/>
          <p:nvPr/>
        </p:nvSpPr>
        <p:spPr>
          <a:xfrm>
            <a:off x="3173028" y="3839563"/>
            <a:ext cx="5636895" cy="917575"/>
          </a:xfrm>
          <a:prstGeom prst="rect">
            <a:avLst/>
          </a:prstGeom>
        </p:spPr>
        <p:txBody>
          <a:bodyPr bIns="0" lIns="0" rIns="0" rtlCol="0" tIns="12065" vert="horz" wrap="square">
            <a:spAutoFit/>
          </a:bodyPr>
          <a:lstStyle/>
          <a:p>
            <a:pPr algn="ctr" marL="12700" marR="5080">
              <a:lnSpc>
                <a:spcPct val="134500"/>
              </a:lnSpc>
              <a:spcBef>
                <a:spcPts val="95"/>
              </a:spcBef>
              <a:defRPr>
                <a:latin typeface="Noto Sans JP"/>
                <a:ea typeface="Noto Sans JP"/>
                <a:cs typeface="Noto Sans JP"/>
              </a:defRPr>
            </a:pPr>
            <a:r>
              <a:rPr b="0" dirty="0" spc="-5" sz="1450">
                <a:solidFill>
                  <a:srgbClr val="374050"/>
                </a:solidFill>
                <a:latin typeface="Noto Sans JP"/>
                <a:ea typeface="Noto Sans JP"/>
                <a:cs typeface="Noto Sans JP"/>
              </a:rPr>
              <a:t>この研修では、自分自身と向き合い、日々の訪問看護業務における</a:t>
            </a:r>
            <a:r>
              <a:rPr b="0" dirty="0" spc="-20" sz="1450">
                <a:solidFill>
                  <a:srgbClr val="374050"/>
                </a:solidFill>
                <a:latin typeface="Noto Sans JP"/>
                <a:ea typeface="Noto Sans JP"/>
                <a:cs typeface="Noto Sans JP"/>
              </a:rPr>
              <a:t>ストレスへの対処法と、より質の高いケアを提供するための</a:t>
            </a:r>
            <a:endParaRPr sz="1450">
              <a:latin typeface="Noto Sans JP Thin"/>
              <a:cs typeface="Noto Sans JP Thin"/>
            </a:endParaRPr>
          </a:p>
          <a:p>
            <a:pPr algn="ctr">
              <a:lnSpc>
                <a:spcPct val="100000"/>
              </a:lnSpc>
              <a:spcBef>
                <a:spcPts val="600"/>
              </a:spcBef>
              <a:defRPr>
                <a:latin typeface="Noto Sans JP"/>
                <a:ea typeface="Noto Sans JP"/>
                <a:cs typeface="Noto Sans JP"/>
              </a:defRPr>
            </a:pPr>
            <a:r>
              <a:rPr b="0" dirty="0" spc="-15" sz="1450">
                <a:solidFill>
                  <a:srgbClr val="374050"/>
                </a:solidFill>
                <a:latin typeface="Noto Sans JP"/>
                <a:ea typeface="Noto Sans JP"/>
                <a:cs typeface="Noto Sans JP"/>
              </a:rPr>
              <a:t>マインドフルネスの活用法を学びます。</a:t>
            </a:r>
            <a:endParaRPr sz="1450">
              <a:latin typeface="Noto Sans JP Thin"/>
              <a:cs typeface="Noto Sans JP Thin"/>
            </a:endParaRPr>
          </a:p>
        </p:txBody>
      </p:sp>
      <p:grpSp>
        <p:nvGrpSpPr>
          <p:cNvPr id="14" name="object 14"/>
          <p:cNvGrpSpPr/>
          <p:nvPr/>
        </p:nvGrpSpPr>
        <p:grpSpPr>
          <a:xfrm>
            <a:off x="3514344" y="5480303"/>
            <a:ext cx="1743710" cy="1045844"/>
            <a:chOff x="3514344" y="5480303"/>
            <a:chExt cx="1743710" cy="1045844"/>
          </a:xfrm>
        </p:grpSpPr>
        <p:sp>
          <p:nvSpPr>
            <p:cNvPr id="15" name="object 15"/>
            <p:cNvSpPr/>
            <p:nvPr/>
          </p:nvSpPr>
          <p:spPr>
            <a:xfrm>
              <a:off x="3514344" y="5480303"/>
              <a:ext cx="1743710" cy="1045844"/>
            </a:xfrm>
            <a:custGeom>
              <a:avLst/>
              <a:gdLst/>
              <a:ahLst/>
              <a:cxnLst/>
              <a:rect b="b" l="l" r="r" t="t"/>
              <a:pathLst>
                <a:path h="1045845" w="1743710">
                  <a:moveTo>
                    <a:pt x="1743455" y="1045463"/>
                  </a:moveTo>
                  <a:lnTo>
                    <a:pt x="0" y="1045463"/>
                  </a:lnTo>
                  <a:lnTo>
                    <a:pt x="0" y="0"/>
                  </a:lnTo>
                  <a:lnTo>
                    <a:pt x="1743455" y="0"/>
                  </a:lnTo>
                  <a:lnTo>
                    <a:pt x="1743455" y="21330"/>
                  </a:lnTo>
                  <a:lnTo>
                    <a:pt x="110963" y="21330"/>
                  </a:lnTo>
                  <a:lnTo>
                    <a:pt x="102911" y="21718"/>
                  </a:lnTo>
                  <a:lnTo>
                    <a:pt x="65543" y="35092"/>
                  </a:lnTo>
                  <a:lnTo>
                    <a:pt x="38887" y="64498"/>
                  </a:lnTo>
                  <a:lnTo>
                    <a:pt x="29224" y="103069"/>
                  </a:lnTo>
                  <a:lnTo>
                    <a:pt x="29224" y="927887"/>
                  </a:lnTo>
                  <a:lnTo>
                    <a:pt x="38887" y="966457"/>
                  </a:lnTo>
                  <a:lnTo>
                    <a:pt x="65543" y="995863"/>
                  </a:lnTo>
                  <a:lnTo>
                    <a:pt x="102911" y="1009237"/>
                  </a:lnTo>
                  <a:lnTo>
                    <a:pt x="110963" y="1009626"/>
                  </a:lnTo>
                  <a:lnTo>
                    <a:pt x="1743455" y="1009626"/>
                  </a:lnTo>
                  <a:lnTo>
                    <a:pt x="1743455" y="1045463"/>
                  </a:lnTo>
                  <a:close/>
                </a:path>
                <a:path h="1045845" w="1743710">
                  <a:moveTo>
                    <a:pt x="1743455" y="1009626"/>
                  </a:moveTo>
                  <a:lnTo>
                    <a:pt x="1634278" y="1009626"/>
                  </a:lnTo>
                  <a:lnTo>
                    <a:pt x="1642330" y="1009237"/>
                  </a:lnTo>
                  <a:lnTo>
                    <a:pt x="1650227" y="1008071"/>
                  </a:lnTo>
                  <a:lnTo>
                    <a:pt x="1686107" y="991104"/>
                  </a:lnTo>
                  <a:lnTo>
                    <a:pt x="1709794" y="959167"/>
                  </a:lnTo>
                  <a:lnTo>
                    <a:pt x="1716017" y="927887"/>
                  </a:lnTo>
                  <a:lnTo>
                    <a:pt x="1716017" y="103069"/>
                  </a:lnTo>
                  <a:lnTo>
                    <a:pt x="1706354" y="64498"/>
                  </a:lnTo>
                  <a:lnTo>
                    <a:pt x="1679698" y="35092"/>
                  </a:lnTo>
                  <a:lnTo>
                    <a:pt x="1642330" y="21718"/>
                  </a:lnTo>
                  <a:lnTo>
                    <a:pt x="1634278" y="21330"/>
                  </a:lnTo>
                  <a:lnTo>
                    <a:pt x="1743455" y="21330"/>
                  </a:lnTo>
                  <a:lnTo>
                    <a:pt x="1743455" y="1009626"/>
                  </a:lnTo>
                  <a:close/>
                </a:path>
              </a:pathLst>
            </a:custGeom>
            <a:solidFill>
              <a:srgbClr val="000000">
                <a:alpha val="5099"/>
              </a:srgbClr>
            </a:solidFill>
          </p:spPr>
          <p:txBody>
            <a:bodyPr bIns="0" lIns="0" rIns="0" rtlCol="0" tIns="0" wrap="square"/>
            <a:lstStyle/>
            <a:p>
              <a:pPr>
                <a:defRPr>
                  <a:latin typeface="Noto Sans JP"/>
                  <a:ea typeface="Noto Sans JP"/>
                  <a:cs typeface="Noto Sans JP"/>
                </a:defRPr>
              </a:pPr>
            </a:p>
          </p:txBody>
        </p:sp>
        <p:sp>
          <p:nvSpPr>
            <p:cNvPr id="16" name="object 16"/>
            <p:cNvSpPr/>
            <p:nvPr/>
          </p:nvSpPr>
          <p:spPr>
            <a:xfrm>
              <a:off x="3536137" y="5494203"/>
              <a:ext cx="1701800" cy="1003300"/>
            </a:xfrm>
            <a:custGeom>
              <a:avLst/>
              <a:gdLst/>
              <a:ahLst/>
              <a:cxnLst/>
              <a:rect b="b" l="l" r="r" t="t"/>
              <a:pathLst>
                <a:path h="1003300" w="1701800">
                  <a:moveTo>
                    <a:pt x="1618339" y="1003158"/>
                  </a:moveTo>
                  <a:lnTo>
                    <a:pt x="83314" y="1003158"/>
                  </a:lnTo>
                  <a:lnTo>
                    <a:pt x="77515" y="1002587"/>
                  </a:lnTo>
                  <a:lnTo>
                    <a:pt x="34761" y="984877"/>
                  </a:lnTo>
                  <a:lnTo>
                    <a:pt x="9028" y="953521"/>
                  </a:lnTo>
                  <a:lnTo>
                    <a:pt x="0" y="919843"/>
                  </a:lnTo>
                  <a:lnTo>
                    <a:pt x="0" y="913988"/>
                  </a:lnTo>
                  <a:lnTo>
                    <a:pt x="0" y="83314"/>
                  </a:lnTo>
                  <a:lnTo>
                    <a:pt x="11774" y="44497"/>
                  </a:lnTo>
                  <a:lnTo>
                    <a:pt x="44497" y="11774"/>
                  </a:lnTo>
                  <a:lnTo>
                    <a:pt x="83314" y="0"/>
                  </a:lnTo>
                  <a:lnTo>
                    <a:pt x="1618339" y="0"/>
                  </a:lnTo>
                  <a:lnTo>
                    <a:pt x="1657155" y="11774"/>
                  </a:lnTo>
                  <a:lnTo>
                    <a:pt x="1689878" y="44497"/>
                  </a:lnTo>
                  <a:lnTo>
                    <a:pt x="1701654" y="83314"/>
                  </a:lnTo>
                  <a:lnTo>
                    <a:pt x="1701654" y="919843"/>
                  </a:lnTo>
                  <a:lnTo>
                    <a:pt x="1689878" y="958659"/>
                  </a:lnTo>
                  <a:lnTo>
                    <a:pt x="1657155" y="991382"/>
                  </a:lnTo>
                  <a:lnTo>
                    <a:pt x="1624137" y="1002587"/>
                  </a:lnTo>
                  <a:lnTo>
                    <a:pt x="1618339" y="1003158"/>
                  </a:lnTo>
                  <a:close/>
                </a:path>
              </a:pathLst>
            </a:custGeom>
            <a:solidFill>
              <a:srgbClr val="DBFBE7"/>
            </a:solidFill>
          </p:spPr>
          <p:txBody>
            <a:bodyPr bIns="0" lIns="0" rIns="0" rtlCol="0" tIns="0" wrap="square"/>
            <a:lstStyle/>
            <a:p>
              <a:pPr>
                <a:defRPr>
                  <a:latin typeface="Noto Sans JP"/>
                  <a:ea typeface="Noto Sans JP"/>
                  <a:cs typeface="Noto Sans JP"/>
                </a:defRPr>
              </a:pPr>
            </a:p>
          </p:txBody>
        </p:sp>
      </p:grpSp>
      <p:sp>
        <p:nvSpPr>
          <p:cNvPr id="17" name="object 17"/>
          <p:cNvSpPr txBox="1"/>
          <p:nvPr/>
        </p:nvSpPr>
        <p:spPr>
          <a:xfrm>
            <a:off x="3700732" y="5870431"/>
            <a:ext cx="1372870" cy="227965"/>
          </a:xfrm>
          <a:prstGeom prst="rect">
            <a:avLst/>
          </a:prstGeom>
        </p:spPr>
        <p:txBody>
          <a:bodyPr bIns="0" lIns="0" rIns="0" rtlCol="0" tIns="15875" vert="horz" wrap="square">
            <a:spAutoFit/>
          </a:bodyPr>
          <a:lstStyle/>
          <a:p>
            <a:pPr marL="12700">
              <a:lnSpc>
                <a:spcPct val="100000"/>
              </a:lnSpc>
              <a:spcBef>
                <a:spcPts val="125"/>
              </a:spcBef>
              <a:defRPr>
                <a:latin typeface="Noto Sans JP"/>
                <a:ea typeface="Noto Sans JP"/>
                <a:cs typeface="Noto Sans JP"/>
              </a:defRPr>
            </a:pPr>
            <a:r>
              <a:rPr b="0" dirty="0" spc="-10" sz="1300">
                <a:solidFill>
                  <a:srgbClr val="166533"/>
                </a:solidFill>
                <a:latin typeface="Noto Sans JP"/>
                <a:ea typeface="Noto Sans JP"/>
                <a:cs typeface="Noto Sans JP"/>
              </a:rPr>
              <a:t>マインドフルネス</a:t>
            </a:r>
            <a:endParaRPr sz="1300">
              <a:latin typeface="Noto Sans JP Thin"/>
              <a:cs typeface="Noto Sans JP Thin"/>
            </a:endParaRPr>
          </a:p>
        </p:txBody>
      </p:sp>
      <p:grpSp>
        <p:nvGrpSpPr>
          <p:cNvPr id="18" name="object 18"/>
          <p:cNvGrpSpPr/>
          <p:nvPr/>
        </p:nvGrpSpPr>
        <p:grpSpPr>
          <a:xfrm>
            <a:off x="5452871" y="5480303"/>
            <a:ext cx="1411605" cy="1045844"/>
            <a:chOff x="5452871" y="5480303"/>
            <a:chExt cx="1411605" cy="1045844"/>
          </a:xfrm>
        </p:grpSpPr>
        <p:sp>
          <p:nvSpPr>
            <p:cNvPr id="19" name="object 19"/>
            <p:cNvSpPr/>
            <p:nvPr/>
          </p:nvSpPr>
          <p:spPr>
            <a:xfrm>
              <a:off x="5452871" y="5480303"/>
              <a:ext cx="1411605" cy="1045844"/>
            </a:xfrm>
            <a:custGeom>
              <a:avLst/>
              <a:gdLst/>
              <a:ahLst/>
              <a:cxnLst/>
              <a:rect b="b" l="l" r="r" t="t"/>
              <a:pathLst>
                <a:path h="1045845" w="1411604">
                  <a:moveTo>
                    <a:pt x="1411223" y="1045463"/>
                  </a:moveTo>
                  <a:lnTo>
                    <a:pt x="0" y="1045463"/>
                  </a:lnTo>
                  <a:lnTo>
                    <a:pt x="0" y="0"/>
                  </a:lnTo>
                  <a:lnTo>
                    <a:pt x="1411223" y="0"/>
                  </a:lnTo>
                  <a:lnTo>
                    <a:pt x="1411223" y="21330"/>
                  </a:lnTo>
                  <a:lnTo>
                    <a:pt x="111875" y="21330"/>
                  </a:lnTo>
                  <a:lnTo>
                    <a:pt x="103823" y="21718"/>
                  </a:lnTo>
                  <a:lnTo>
                    <a:pt x="66454" y="35092"/>
                  </a:lnTo>
                  <a:lnTo>
                    <a:pt x="39798" y="64498"/>
                  </a:lnTo>
                  <a:lnTo>
                    <a:pt x="30136" y="103069"/>
                  </a:lnTo>
                  <a:lnTo>
                    <a:pt x="30136" y="927887"/>
                  </a:lnTo>
                  <a:lnTo>
                    <a:pt x="39798" y="966457"/>
                  </a:lnTo>
                  <a:lnTo>
                    <a:pt x="66454" y="995863"/>
                  </a:lnTo>
                  <a:lnTo>
                    <a:pt x="103823" y="1009237"/>
                  </a:lnTo>
                  <a:lnTo>
                    <a:pt x="111875" y="1009626"/>
                  </a:lnTo>
                  <a:lnTo>
                    <a:pt x="1411223" y="1009626"/>
                  </a:lnTo>
                  <a:lnTo>
                    <a:pt x="1411223" y="1045463"/>
                  </a:lnTo>
                  <a:close/>
                </a:path>
                <a:path h="1045845" w="1411604">
                  <a:moveTo>
                    <a:pt x="1411223" y="1009626"/>
                  </a:moveTo>
                  <a:lnTo>
                    <a:pt x="1300803" y="1009626"/>
                  </a:lnTo>
                  <a:lnTo>
                    <a:pt x="1308855" y="1009237"/>
                  </a:lnTo>
                  <a:lnTo>
                    <a:pt x="1316752" y="1008071"/>
                  </a:lnTo>
                  <a:lnTo>
                    <a:pt x="1352632" y="991104"/>
                  </a:lnTo>
                  <a:lnTo>
                    <a:pt x="1376320" y="959167"/>
                  </a:lnTo>
                  <a:lnTo>
                    <a:pt x="1382542" y="927887"/>
                  </a:lnTo>
                  <a:lnTo>
                    <a:pt x="1382542" y="103069"/>
                  </a:lnTo>
                  <a:lnTo>
                    <a:pt x="1372879" y="64498"/>
                  </a:lnTo>
                  <a:lnTo>
                    <a:pt x="1346223" y="35092"/>
                  </a:lnTo>
                  <a:lnTo>
                    <a:pt x="1308855" y="21718"/>
                  </a:lnTo>
                  <a:lnTo>
                    <a:pt x="1300803" y="21330"/>
                  </a:lnTo>
                  <a:lnTo>
                    <a:pt x="1411223" y="21330"/>
                  </a:lnTo>
                  <a:lnTo>
                    <a:pt x="1411223" y="1009626"/>
                  </a:lnTo>
                  <a:close/>
                </a:path>
              </a:pathLst>
            </a:custGeom>
            <a:solidFill>
              <a:srgbClr val="000000">
                <a:alpha val="5099"/>
              </a:srgbClr>
            </a:solidFill>
          </p:spPr>
          <p:txBody>
            <a:bodyPr bIns="0" lIns="0" rIns="0" rtlCol="0" tIns="0" wrap="square"/>
            <a:lstStyle/>
            <a:p>
              <a:pPr>
                <a:defRPr>
                  <a:latin typeface="Noto Sans JP"/>
                  <a:ea typeface="Noto Sans JP"/>
                  <a:cs typeface="Noto Sans JP"/>
                </a:defRPr>
              </a:pPr>
            </a:p>
          </p:txBody>
        </p:sp>
        <p:sp>
          <p:nvSpPr>
            <p:cNvPr id="20" name="object 20"/>
            <p:cNvSpPr/>
            <p:nvPr/>
          </p:nvSpPr>
          <p:spPr>
            <a:xfrm>
              <a:off x="5475577" y="5494203"/>
              <a:ext cx="1367790" cy="1003300"/>
            </a:xfrm>
            <a:custGeom>
              <a:avLst/>
              <a:gdLst/>
              <a:ahLst/>
              <a:cxnLst/>
              <a:rect b="b" l="l" r="r" t="t"/>
              <a:pathLst>
                <a:path h="1003300" w="1367790">
                  <a:moveTo>
                    <a:pt x="1283953" y="1003158"/>
                  </a:moveTo>
                  <a:lnTo>
                    <a:pt x="83314" y="1003158"/>
                  </a:lnTo>
                  <a:lnTo>
                    <a:pt x="77515" y="1002587"/>
                  </a:lnTo>
                  <a:lnTo>
                    <a:pt x="34761" y="984877"/>
                  </a:lnTo>
                  <a:lnTo>
                    <a:pt x="9028" y="953521"/>
                  </a:lnTo>
                  <a:lnTo>
                    <a:pt x="0" y="919843"/>
                  </a:lnTo>
                  <a:lnTo>
                    <a:pt x="0" y="913988"/>
                  </a:lnTo>
                  <a:lnTo>
                    <a:pt x="0" y="83314"/>
                  </a:lnTo>
                  <a:lnTo>
                    <a:pt x="11774" y="44497"/>
                  </a:lnTo>
                  <a:lnTo>
                    <a:pt x="44497" y="11774"/>
                  </a:lnTo>
                  <a:lnTo>
                    <a:pt x="83314" y="0"/>
                  </a:lnTo>
                  <a:lnTo>
                    <a:pt x="1283953" y="0"/>
                  </a:lnTo>
                  <a:lnTo>
                    <a:pt x="1322769" y="11774"/>
                  </a:lnTo>
                  <a:lnTo>
                    <a:pt x="1355492" y="44497"/>
                  </a:lnTo>
                  <a:lnTo>
                    <a:pt x="1367268" y="83314"/>
                  </a:lnTo>
                  <a:lnTo>
                    <a:pt x="1367268" y="919843"/>
                  </a:lnTo>
                  <a:lnTo>
                    <a:pt x="1355492" y="958659"/>
                  </a:lnTo>
                  <a:lnTo>
                    <a:pt x="1322769" y="991382"/>
                  </a:lnTo>
                  <a:lnTo>
                    <a:pt x="1289751" y="1002587"/>
                  </a:lnTo>
                  <a:lnTo>
                    <a:pt x="1283953" y="1003158"/>
                  </a:lnTo>
                  <a:close/>
                </a:path>
              </a:pathLst>
            </a:custGeom>
            <a:solidFill>
              <a:srgbClr val="DBFBE7"/>
            </a:solidFill>
          </p:spPr>
          <p:txBody>
            <a:bodyPr bIns="0" lIns="0" rIns="0" rtlCol="0" tIns="0" wrap="square"/>
            <a:lstStyle/>
            <a:p>
              <a:pPr>
                <a:defRPr>
                  <a:latin typeface="Noto Sans JP"/>
                  <a:ea typeface="Noto Sans JP"/>
                  <a:cs typeface="Noto Sans JP"/>
                </a:defRPr>
              </a:pPr>
            </a:p>
          </p:txBody>
        </p:sp>
        <p:pic>
          <p:nvPicPr>
            <p:cNvPr id="21" name="object 21"/>
            <p:cNvPicPr/>
            <p:nvPr/>
          </p:nvPicPr>
          <p:blipFill>
            <a:blip cstate="print" r:embed="rId7"/>
            <a:stretch>
              <a:fillRect/>
            </a:stretch>
          </p:blipFill>
          <p:spPr>
            <a:xfrm>
              <a:off x="6032387" y="5682809"/>
              <a:ext cx="254000" cy="269875"/>
            </a:xfrm>
            <a:prstGeom prst="rect">
              <a:avLst/>
            </a:prstGeom>
          </p:spPr>
        </p:pic>
      </p:grpSp>
      <p:sp>
        <p:nvSpPr>
          <p:cNvPr id="22" name="object 22"/>
          <p:cNvSpPr txBox="1"/>
          <p:nvPr/>
        </p:nvSpPr>
        <p:spPr>
          <a:xfrm>
            <a:off x="5642029" y="6078494"/>
            <a:ext cx="1035685" cy="227965"/>
          </a:xfrm>
          <a:prstGeom prst="rect">
            <a:avLst/>
          </a:prstGeom>
        </p:spPr>
        <p:txBody>
          <a:bodyPr bIns="0" lIns="0" rIns="0" rtlCol="0" tIns="15875" vert="horz" wrap="square">
            <a:spAutoFit/>
          </a:bodyPr>
          <a:lstStyle/>
          <a:p>
            <a:pPr marL="12700">
              <a:lnSpc>
                <a:spcPct val="100000"/>
              </a:lnSpc>
              <a:spcBef>
                <a:spcPts val="125"/>
              </a:spcBef>
              <a:defRPr>
                <a:latin typeface="Noto Sans JP"/>
                <a:ea typeface="Noto Sans JP"/>
                <a:cs typeface="Noto Sans JP"/>
              </a:defRPr>
            </a:pPr>
            <a:r>
              <a:rPr b="0" dirty="0" spc="-10" sz="1300">
                <a:solidFill>
                  <a:srgbClr val="166533"/>
                </a:solidFill>
                <a:latin typeface="Noto Sans JP"/>
                <a:ea typeface="Noto Sans JP"/>
                <a:cs typeface="Noto Sans JP"/>
              </a:rPr>
              <a:t>ストレス軽減</a:t>
            </a:r>
            <a:endParaRPr sz="1300">
              <a:latin typeface="Noto Sans JP Thin"/>
              <a:cs typeface="Noto Sans JP Thin"/>
            </a:endParaRPr>
          </a:p>
        </p:txBody>
      </p:sp>
      <p:grpSp>
        <p:nvGrpSpPr>
          <p:cNvPr id="23" name="object 23"/>
          <p:cNvGrpSpPr/>
          <p:nvPr/>
        </p:nvGrpSpPr>
        <p:grpSpPr>
          <a:xfrm>
            <a:off x="7059167" y="5480303"/>
            <a:ext cx="1411605" cy="1045844"/>
            <a:chOff x="7059167" y="5480303"/>
            <a:chExt cx="1411605" cy="1045844"/>
          </a:xfrm>
        </p:grpSpPr>
        <p:sp>
          <p:nvSpPr>
            <p:cNvPr id="24" name="object 24"/>
            <p:cNvSpPr/>
            <p:nvPr/>
          </p:nvSpPr>
          <p:spPr>
            <a:xfrm>
              <a:off x="7059167" y="5480303"/>
              <a:ext cx="1411605" cy="1045844"/>
            </a:xfrm>
            <a:custGeom>
              <a:avLst/>
              <a:gdLst/>
              <a:ahLst/>
              <a:cxnLst/>
              <a:rect b="b" l="l" r="r" t="t"/>
              <a:pathLst>
                <a:path h="1045845" w="1411604">
                  <a:moveTo>
                    <a:pt x="1411223" y="1045463"/>
                  </a:moveTo>
                  <a:lnTo>
                    <a:pt x="0" y="1045463"/>
                  </a:lnTo>
                  <a:lnTo>
                    <a:pt x="0" y="0"/>
                  </a:lnTo>
                  <a:lnTo>
                    <a:pt x="1411223" y="0"/>
                  </a:lnTo>
                  <a:lnTo>
                    <a:pt x="1411223" y="21330"/>
                  </a:lnTo>
                  <a:lnTo>
                    <a:pt x="110632" y="21330"/>
                  </a:lnTo>
                  <a:lnTo>
                    <a:pt x="102580" y="21718"/>
                  </a:lnTo>
                  <a:lnTo>
                    <a:pt x="65212" y="35092"/>
                  </a:lnTo>
                  <a:lnTo>
                    <a:pt x="38555" y="64498"/>
                  </a:lnTo>
                  <a:lnTo>
                    <a:pt x="28893" y="103069"/>
                  </a:lnTo>
                  <a:lnTo>
                    <a:pt x="28893" y="927887"/>
                  </a:lnTo>
                  <a:lnTo>
                    <a:pt x="38556" y="966457"/>
                  </a:lnTo>
                  <a:lnTo>
                    <a:pt x="65212" y="995863"/>
                  </a:lnTo>
                  <a:lnTo>
                    <a:pt x="102580" y="1009237"/>
                  </a:lnTo>
                  <a:lnTo>
                    <a:pt x="110632" y="1009626"/>
                  </a:lnTo>
                  <a:lnTo>
                    <a:pt x="1411223" y="1009626"/>
                  </a:lnTo>
                  <a:lnTo>
                    <a:pt x="1411223" y="1045463"/>
                  </a:lnTo>
                  <a:close/>
                </a:path>
                <a:path h="1045845" w="1411604">
                  <a:moveTo>
                    <a:pt x="1411223" y="1009626"/>
                  </a:moveTo>
                  <a:lnTo>
                    <a:pt x="1299561" y="1009626"/>
                  </a:lnTo>
                  <a:lnTo>
                    <a:pt x="1307612" y="1009237"/>
                  </a:lnTo>
                  <a:lnTo>
                    <a:pt x="1315510" y="1008071"/>
                  </a:lnTo>
                  <a:lnTo>
                    <a:pt x="1351390" y="991104"/>
                  </a:lnTo>
                  <a:lnTo>
                    <a:pt x="1375077" y="959167"/>
                  </a:lnTo>
                  <a:lnTo>
                    <a:pt x="1381300" y="927887"/>
                  </a:lnTo>
                  <a:lnTo>
                    <a:pt x="1381300" y="103069"/>
                  </a:lnTo>
                  <a:lnTo>
                    <a:pt x="1371636" y="64498"/>
                  </a:lnTo>
                  <a:lnTo>
                    <a:pt x="1344980" y="35092"/>
                  </a:lnTo>
                  <a:lnTo>
                    <a:pt x="1307612" y="21718"/>
                  </a:lnTo>
                  <a:lnTo>
                    <a:pt x="1299561" y="21330"/>
                  </a:lnTo>
                  <a:lnTo>
                    <a:pt x="1411223" y="21330"/>
                  </a:lnTo>
                  <a:lnTo>
                    <a:pt x="1411223" y="1009626"/>
                  </a:lnTo>
                  <a:close/>
                </a:path>
              </a:pathLst>
            </a:custGeom>
            <a:solidFill>
              <a:srgbClr val="000000">
                <a:alpha val="5099"/>
              </a:srgbClr>
            </a:solidFill>
          </p:spPr>
          <p:txBody>
            <a:bodyPr bIns="0" lIns="0" rIns="0" rtlCol="0" tIns="0" wrap="square"/>
            <a:lstStyle/>
            <a:p>
              <a:pPr>
                <a:defRPr>
                  <a:latin typeface="Noto Sans JP"/>
                  <a:ea typeface="Noto Sans JP"/>
                  <a:cs typeface="Noto Sans JP"/>
                </a:defRPr>
              </a:pPr>
            </a:p>
          </p:txBody>
        </p:sp>
        <p:sp>
          <p:nvSpPr>
            <p:cNvPr id="25" name="object 25"/>
            <p:cNvSpPr/>
            <p:nvPr/>
          </p:nvSpPr>
          <p:spPr>
            <a:xfrm>
              <a:off x="7080630" y="5494203"/>
              <a:ext cx="1367790" cy="1003300"/>
            </a:xfrm>
            <a:custGeom>
              <a:avLst/>
              <a:gdLst/>
              <a:ahLst/>
              <a:cxnLst/>
              <a:rect b="b" l="l" r="r" t="t"/>
              <a:pathLst>
                <a:path h="1003300" w="1367790">
                  <a:moveTo>
                    <a:pt x="1283952" y="1003158"/>
                  </a:moveTo>
                  <a:lnTo>
                    <a:pt x="83314" y="1003158"/>
                  </a:lnTo>
                  <a:lnTo>
                    <a:pt x="77515" y="1002587"/>
                  </a:lnTo>
                  <a:lnTo>
                    <a:pt x="34761" y="984877"/>
                  </a:lnTo>
                  <a:lnTo>
                    <a:pt x="9028" y="953521"/>
                  </a:lnTo>
                  <a:lnTo>
                    <a:pt x="0" y="919843"/>
                  </a:lnTo>
                  <a:lnTo>
                    <a:pt x="0" y="913988"/>
                  </a:lnTo>
                  <a:lnTo>
                    <a:pt x="0" y="83314"/>
                  </a:lnTo>
                  <a:lnTo>
                    <a:pt x="11774" y="44497"/>
                  </a:lnTo>
                  <a:lnTo>
                    <a:pt x="44497" y="11774"/>
                  </a:lnTo>
                  <a:lnTo>
                    <a:pt x="83314" y="0"/>
                  </a:lnTo>
                  <a:lnTo>
                    <a:pt x="1283952" y="0"/>
                  </a:lnTo>
                  <a:lnTo>
                    <a:pt x="1322768" y="11774"/>
                  </a:lnTo>
                  <a:lnTo>
                    <a:pt x="1355492" y="44497"/>
                  </a:lnTo>
                  <a:lnTo>
                    <a:pt x="1367267" y="83314"/>
                  </a:lnTo>
                  <a:lnTo>
                    <a:pt x="1367267" y="919843"/>
                  </a:lnTo>
                  <a:lnTo>
                    <a:pt x="1355491" y="958659"/>
                  </a:lnTo>
                  <a:lnTo>
                    <a:pt x="1322769" y="991382"/>
                  </a:lnTo>
                  <a:lnTo>
                    <a:pt x="1289751" y="1002587"/>
                  </a:lnTo>
                  <a:lnTo>
                    <a:pt x="1283952" y="1003158"/>
                  </a:lnTo>
                  <a:close/>
                </a:path>
              </a:pathLst>
            </a:custGeom>
            <a:solidFill>
              <a:srgbClr val="DBFBE7"/>
            </a:solidFill>
          </p:spPr>
          <p:txBody>
            <a:bodyPr bIns="0" lIns="0" rIns="0" rtlCol="0" tIns="0" wrap="square"/>
            <a:lstStyle/>
            <a:p>
              <a:pPr>
                <a:defRPr>
                  <a:latin typeface="Noto Sans JP"/>
                  <a:ea typeface="Noto Sans JP"/>
                  <a:cs typeface="Noto Sans JP"/>
                </a:defRPr>
              </a:pPr>
            </a:p>
          </p:txBody>
        </p:sp>
        <p:pic>
          <p:nvPicPr>
            <p:cNvPr id="26" name="object 26"/>
            <p:cNvPicPr/>
            <p:nvPr/>
          </p:nvPicPr>
          <p:blipFill>
            <a:blip cstate="print" r:embed="rId8"/>
            <a:stretch>
              <a:fillRect/>
            </a:stretch>
          </p:blipFill>
          <p:spPr>
            <a:xfrm>
              <a:off x="7600362" y="5685984"/>
              <a:ext cx="327025" cy="260350"/>
            </a:xfrm>
            <a:prstGeom prst="rect">
              <a:avLst/>
            </a:prstGeom>
          </p:spPr>
        </p:pic>
      </p:grpSp>
      <p:sp>
        <p:nvSpPr>
          <p:cNvPr id="27" name="object 27"/>
          <p:cNvSpPr txBox="1"/>
          <p:nvPr/>
        </p:nvSpPr>
        <p:spPr>
          <a:xfrm>
            <a:off x="7246618" y="6078494"/>
            <a:ext cx="1035685" cy="227965"/>
          </a:xfrm>
          <a:prstGeom prst="rect">
            <a:avLst/>
          </a:prstGeom>
        </p:spPr>
        <p:txBody>
          <a:bodyPr bIns="0" lIns="0" rIns="0" rtlCol="0" tIns="15875" vert="horz" wrap="square">
            <a:spAutoFit/>
          </a:bodyPr>
          <a:lstStyle/>
          <a:p>
            <a:pPr marL="12700">
              <a:lnSpc>
                <a:spcPct val="100000"/>
              </a:lnSpc>
              <a:spcBef>
                <a:spcPts val="125"/>
              </a:spcBef>
              <a:defRPr>
                <a:latin typeface="Noto Sans JP"/>
                <a:ea typeface="Noto Sans JP"/>
                <a:cs typeface="Noto Sans JP"/>
              </a:defRPr>
            </a:pPr>
            <a:r>
              <a:rPr b="0" dirty="0" spc="-10" sz="1300">
                <a:solidFill>
                  <a:srgbClr val="166533"/>
                </a:solidFill>
                <a:latin typeface="Noto Sans JP"/>
                <a:ea typeface="Noto Sans JP"/>
                <a:cs typeface="Noto Sans JP"/>
              </a:rPr>
              <a:t>質の高いケア</a:t>
            </a:r>
            <a:endParaRPr sz="1300">
              <a:latin typeface="Noto Sans JP Thin"/>
              <a:cs typeface="Noto Sans JP Thin"/>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descr="$PPTXTitle" id="2" name="object 2"/>
          <p:cNvSpPr txBox="1">
            <a:spLocks noGrp="1"/>
          </p:cNvSpPr>
          <p:nvPr>
            <p:ph type="title"/>
          </p:nvPr>
        </p:nvSpPr>
        <p:spPr>
          <a:prstGeom prst="rect"/>
        </p:spPr>
        <p:txBody>
          <a:bodyPr bIns="0" lIns="0" rIns="0" rtlCol="0" tIns="71372" vert="horz" wrap="square">
            <a:spAutoFit/>
          </a:bodyPr>
          <a:lstStyle/>
          <a:p>
            <a:pPr marL="38100">
              <a:lnSpc>
                <a:spcPct val="100000"/>
              </a:lnSpc>
              <a:spcBef>
                <a:spcPts val="120"/>
              </a:spcBef>
              <a:defRPr>
                <a:latin typeface="Noto Sans JP"/>
                <a:ea typeface="Noto Sans JP"/>
                <a:cs typeface="Noto Sans JP"/>
              </a:defRPr>
            </a:pPr>
            <a:r>
              <a:rPr b="0" baseline="9523" dirty="0" spc="1785" sz="5250">
                <a:solidFill>
                  <a:srgbClr val="16A24A"/>
                </a:solidFill>
                <a:latin typeface="Noto Sans JP"/>
                <a:ea typeface="Noto Sans JP"/>
                <a:cs typeface="Noto Sans JP"/>
              </a:rPr>
              <a:t></a:t>
            </a:r>
            <a:r>
              <a:rPr b="0" baseline="9523" dirty="0" spc="307" sz="5250">
                <a:solidFill>
                  <a:srgbClr val="16A24A"/>
                </a:solidFill>
                <a:latin typeface="Noto Sans JP"/>
                <a:ea typeface="Noto Sans JP"/>
                <a:cs typeface="Noto Sans JP"/>
              </a:rPr>
              <a:t> </a:t>
            </a:r>
            <a:r>
              <a:rPr dirty="0" spc="-100" sz="4400">
                <a:latin typeface="Noto Sans JP"/>
                <a:ea typeface="Noto Sans JP"/>
                <a:cs typeface="Noto Sans JP"/>
              </a:rPr>
              <a:t>マインドフルネスとは</a:t>
            </a:r>
            <a:endParaRPr sz="4400">
              <a:latin typeface="Arial"/>
              <a:cs typeface="Arial"/>
            </a:endParaRPr>
          </a:p>
        </p:txBody>
      </p:sp>
      <p:grpSp>
        <p:nvGrpSpPr>
          <p:cNvPr id="3" name="object 3"/>
          <p:cNvGrpSpPr/>
          <p:nvPr/>
        </p:nvGrpSpPr>
        <p:grpSpPr>
          <a:xfrm>
            <a:off x="725423" y="1371600"/>
            <a:ext cx="10515600" cy="5267325"/>
            <a:chOff x="725423" y="1371600"/>
            <a:chExt cx="10515600" cy="5267325"/>
          </a:xfrm>
        </p:grpSpPr>
        <p:sp>
          <p:nvSpPr>
            <p:cNvPr id="4" name="object 4"/>
            <p:cNvSpPr/>
            <p:nvPr/>
          </p:nvSpPr>
          <p:spPr>
            <a:xfrm>
              <a:off x="725411" y="1371612"/>
              <a:ext cx="10515600" cy="3465829"/>
            </a:xfrm>
            <a:custGeom>
              <a:avLst/>
              <a:gdLst/>
              <a:ahLst/>
              <a:cxnLst/>
              <a:rect b="b" l="l" r="r" t="t"/>
              <a:pathLst>
                <a:path h="3465829" w="10515600">
                  <a:moveTo>
                    <a:pt x="10515600" y="0"/>
                  </a:moveTo>
                  <a:lnTo>
                    <a:pt x="10342207" y="0"/>
                  </a:lnTo>
                  <a:lnTo>
                    <a:pt x="10342207" y="220535"/>
                  </a:lnTo>
                  <a:lnTo>
                    <a:pt x="10342207" y="3063240"/>
                  </a:lnTo>
                  <a:lnTo>
                    <a:pt x="10336314" y="3103105"/>
                  </a:lnTo>
                  <a:lnTo>
                    <a:pt x="10319042" y="3139668"/>
                  </a:lnTo>
                  <a:lnTo>
                    <a:pt x="10291877" y="3169628"/>
                  </a:lnTo>
                  <a:lnTo>
                    <a:pt x="10257295" y="3190316"/>
                  </a:lnTo>
                  <a:lnTo>
                    <a:pt x="10218204" y="3200133"/>
                  </a:lnTo>
                  <a:lnTo>
                    <a:pt x="10204653" y="3200793"/>
                  </a:lnTo>
                  <a:lnTo>
                    <a:pt x="310184" y="3200793"/>
                  </a:lnTo>
                  <a:lnTo>
                    <a:pt x="270319" y="3194901"/>
                  </a:lnTo>
                  <a:lnTo>
                    <a:pt x="233756" y="3177629"/>
                  </a:lnTo>
                  <a:lnTo>
                    <a:pt x="203809" y="3150463"/>
                  </a:lnTo>
                  <a:lnTo>
                    <a:pt x="183108" y="3115881"/>
                  </a:lnTo>
                  <a:lnTo>
                    <a:pt x="173291" y="3076791"/>
                  </a:lnTo>
                  <a:lnTo>
                    <a:pt x="172643" y="3063240"/>
                  </a:lnTo>
                  <a:lnTo>
                    <a:pt x="172643" y="220535"/>
                  </a:lnTo>
                  <a:lnTo>
                    <a:pt x="178523" y="180657"/>
                  </a:lnTo>
                  <a:lnTo>
                    <a:pt x="195795" y="144094"/>
                  </a:lnTo>
                  <a:lnTo>
                    <a:pt x="222973" y="114147"/>
                  </a:lnTo>
                  <a:lnTo>
                    <a:pt x="257556" y="93446"/>
                  </a:lnTo>
                  <a:lnTo>
                    <a:pt x="296646" y="83642"/>
                  </a:lnTo>
                  <a:lnTo>
                    <a:pt x="310184" y="82981"/>
                  </a:lnTo>
                  <a:lnTo>
                    <a:pt x="10204653" y="82981"/>
                  </a:lnTo>
                  <a:lnTo>
                    <a:pt x="10244518" y="88874"/>
                  </a:lnTo>
                  <a:lnTo>
                    <a:pt x="10281082" y="106146"/>
                  </a:lnTo>
                  <a:lnTo>
                    <a:pt x="10311028" y="133311"/>
                  </a:lnTo>
                  <a:lnTo>
                    <a:pt x="10331729" y="167894"/>
                  </a:lnTo>
                  <a:lnTo>
                    <a:pt x="10341546" y="206984"/>
                  </a:lnTo>
                  <a:lnTo>
                    <a:pt x="10342207" y="220535"/>
                  </a:lnTo>
                  <a:lnTo>
                    <a:pt x="10342207" y="0"/>
                  </a:lnTo>
                  <a:lnTo>
                    <a:pt x="0" y="0"/>
                  </a:lnTo>
                  <a:lnTo>
                    <a:pt x="0" y="3465576"/>
                  </a:lnTo>
                  <a:lnTo>
                    <a:pt x="10515600" y="3465576"/>
                  </a:lnTo>
                  <a:lnTo>
                    <a:pt x="10515600" y="3200793"/>
                  </a:lnTo>
                  <a:lnTo>
                    <a:pt x="10515600" y="82981"/>
                  </a:lnTo>
                  <a:lnTo>
                    <a:pt x="10515600"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5" name="object 5"/>
            <p:cNvSpPr/>
            <p:nvPr/>
          </p:nvSpPr>
          <p:spPr>
            <a:xfrm>
              <a:off x="888887" y="1445417"/>
              <a:ext cx="10187940" cy="3136265"/>
            </a:xfrm>
            <a:custGeom>
              <a:avLst/>
              <a:gdLst/>
              <a:ahLst/>
              <a:cxnLst/>
              <a:rect b="b" l="l" r="r" t="t"/>
              <a:pathLst>
                <a:path h="3136265" w="10187940">
                  <a:moveTo>
                    <a:pt x="10041182" y="3136150"/>
                  </a:moveTo>
                  <a:lnTo>
                    <a:pt x="146720" y="3136150"/>
                  </a:lnTo>
                  <a:lnTo>
                    <a:pt x="139512" y="3135974"/>
                  </a:lnTo>
                  <a:lnTo>
                    <a:pt x="97299" y="3127577"/>
                  </a:lnTo>
                  <a:lnTo>
                    <a:pt x="59311" y="3107271"/>
                  </a:lnTo>
                  <a:lnTo>
                    <a:pt x="28877" y="3076838"/>
                  </a:lnTo>
                  <a:lnTo>
                    <a:pt x="8572" y="3038850"/>
                  </a:lnTo>
                  <a:lnTo>
                    <a:pt x="176" y="2996637"/>
                  </a:lnTo>
                  <a:lnTo>
                    <a:pt x="0" y="2989429"/>
                  </a:lnTo>
                  <a:lnTo>
                    <a:pt x="0" y="146720"/>
                  </a:lnTo>
                  <a:lnTo>
                    <a:pt x="6316" y="104129"/>
                  </a:lnTo>
                  <a:lnTo>
                    <a:pt x="24726" y="65206"/>
                  </a:lnTo>
                  <a:lnTo>
                    <a:pt x="53640" y="33302"/>
                  </a:lnTo>
                  <a:lnTo>
                    <a:pt x="90572" y="11168"/>
                  </a:lnTo>
                  <a:lnTo>
                    <a:pt x="132339" y="704"/>
                  </a:lnTo>
                  <a:lnTo>
                    <a:pt x="146720" y="0"/>
                  </a:lnTo>
                  <a:lnTo>
                    <a:pt x="10041182" y="0"/>
                  </a:lnTo>
                  <a:lnTo>
                    <a:pt x="10083772" y="6316"/>
                  </a:lnTo>
                  <a:lnTo>
                    <a:pt x="10122694" y="24726"/>
                  </a:lnTo>
                  <a:lnTo>
                    <a:pt x="10154599" y="53640"/>
                  </a:lnTo>
                  <a:lnTo>
                    <a:pt x="10176733" y="90572"/>
                  </a:lnTo>
                  <a:lnTo>
                    <a:pt x="10187197" y="132339"/>
                  </a:lnTo>
                  <a:lnTo>
                    <a:pt x="10187903" y="146720"/>
                  </a:lnTo>
                  <a:lnTo>
                    <a:pt x="10187903" y="2989429"/>
                  </a:lnTo>
                  <a:lnTo>
                    <a:pt x="10181585" y="3032020"/>
                  </a:lnTo>
                  <a:lnTo>
                    <a:pt x="10163175" y="3070943"/>
                  </a:lnTo>
                  <a:lnTo>
                    <a:pt x="10134260" y="3102847"/>
                  </a:lnTo>
                  <a:lnTo>
                    <a:pt x="10097328" y="3124981"/>
                  </a:lnTo>
                  <a:lnTo>
                    <a:pt x="10055563" y="3135445"/>
                  </a:lnTo>
                  <a:lnTo>
                    <a:pt x="10041182" y="3136150"/>
                  </a:lnTo>
                  <a:close/>
                </a:path>
              </a:pathLst>
            </a:custGeom>
            <a:solidFill>
              <a:srgbClr val="FFFFFF"/>
            </a:solidFill>
          </p:spPr>
          <p:txBody>
            <a:bodyPr bIns="0" lIns="0" rIns="0" rtlCol="0" tIns="0" wrap="square"/>
            <a:lstStyle/>
            <a:p>
              <a:pPr>
                <a:defRPr>
                  <a:latin typeface="Noto Sans JP"/>
                  <a:ea typeface="Noto Sans JP"/>
                  <a:cs typeface="Noto Sans JP"/>
                </a:defRPr>
              </a:pPr>
            </a:p>
          </p:txBody>
        </p:sp>
        <p:sp>
          <p:nvSpPr>
            <p:cNvPr id="6" name="object 6"/>
            <p:cNvSpPr/>
            <p:nvPr/>
          </p:nvSpPr>
          <p:spPr>
            <a:xfrm>
              <a:off x="822947" y="4843284"/>
              <a:ext cx="10320655" cy="1795780"/>
            </a:xfrm>
            <a:custGeom>
              <a:avLst/>
              <a:gdLst/>
              <a:ahLst/>
              <a:cxnLst/>
              <a:rect b="b" l="l" r="r" t="t"/>
              <a:pathLst>
                <a:path h="1795779" w="10320655">
                  <a:moveTo>
                    <a:pt x="10320528" y="0"/>
                  </a:moveTo>
                  <a:lnTo>
                    <a:pt x="10244671" y="0"/>
                  </a:lnTo>
                  <a:lnTo>
                    <a:pt x="10244671" y="178447"/>
                  </a:lnTo>
                  <a:lnTo>
                    <a:pt x="10244671" y="1544789"/>
                  </a:lnTo>
                  <a:lnTo>
                    <a:pt x="10238778" y="1584655"/>
                  </a:lnTo>
                  <a:lnTo>
                    <a:pt x="10221506" y="1621218"/>
                  </a:lnTo>
                  <a:lnTo>
                    <a:pt x="10194341" y="1651165"/>
                  </a:lnTo>
                  <a:lnTo>
                    <a:pt x="10159759" y="1671866"/>
                  </a:lnTo>
                  <a:lnTo>
                    <a:pt x="10120668" y="1681683"/>
                  </a:lnTo>
                  <a:lnTo>
                    <a:pt x="10107117" y="1682330"/>
                  </a:lnTo>
                  <a:lnTo>
                    <a:pt x="212648" y="1682330"/>
                  </a:lnTo>
                  <a:lnTo>
                    <a:pt x="172783" y="1676450"/>
                  </a:lnTo>
                  <a:lnTo>
                    <a:pt x="136220" y="1659178"/>
                  </a:lnTo>
                  <a:lnTo>
                    <a:pt x="106273" y="1632000"/>
                  </a:lnTo>
                  <a:lnTo>
                    <a:pt x="85572" y="1597418"/>
                  </a:lnTo>
                  <a:lnTo>
                    <a:pt x="75755" y="1558340"/>
                  </a:lnTo>
                  <a:lnTo>
                    <a:pt x="75107" y="1544789"/>
                  </a:lnTo>
                  <a:lnTo>
                    <a:pt x="75107" y="178447"/>
                  </a:lnTo>
                  <a:lnTo>
                    <a:pt x="80987" y="138582"/>
                  </a:lnTo>
                  <a:lnTo>
                    <a:pt x="98259" y="102019"/>
                  </a:lnTo>
                  <a:lnTo>
                    <a:pt x="125437" y="72072"/>
                  </a:lnTo>
                  <a:lnTo>
                    <a:pt x="160020" y="51371"/>
                  </a:lnTo>
                  <a:lnTo>
                    <a:pt x="199110" y="41554"/>
                  </a:lnTo>
                  <a:lnTo>
                    <a:pt x="212648" y="40906"/>
                  </a:lnTo>
                  <a:lnTo>
                    <a:pt x="10107117" y="40906"/>
                  </a:lnTo>
                  <a:lnTo>
                    <a:pt x="10146982" y="46786"/>
                  </a:lnTo>
                  <a:lnTo>
                    <a:pt x="10183546" y="64058"/>
                  </a:lnTo>
                  <a:lnTo>
                    <a:pt x="10213492" y="91236"/>
                  </a:lnTo>
                  <a:lnTo>
                    <a:pt x="10234193" y="125806"/>
                  </a:lnTo>
                  <a:lnTo>
                    <a:pt x="10244010" y="164896"/>
                  </a:lnTo>
                  <a:lnTo>
                    <a:pt x="10244671" y="178447"/>
                  </a:lnTo>
                  <a:lnTo>
                    <a:pt x="10244671" y="0"/>
                  </a:lnTo>
                  <a:lnTo>
                    <a:pt x="0" y="0"/>
                  </a:lnTo>
                  <a:lnTo>
                    <a:pt x="0" y="1795272"/>
                  </a:lnTo>
                  <a:lnTo>
                    <a:pt x="10320528" y="1795272"/>
                  </a:lnTo>
                  <a:lnTo>
                    <a:pt x="10320528" y="1682330"/>
                  </a:lnTo>
                  <a:lnTo>
                    <a:pt x="10320528" y="40906"/>
                  </a:lnTo>
                  <a:lnTo>
                    <a:pt x="10320528"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7" name="object 7"/>
            <p:cNvSpPr/>
            <p:nvPr/>
          </p:nvSpPr>
          <p:spPr>
            <a:xfrm>
              <a:off x="888887" y="4875009"/>
              <a:ext cx="10187940" cy="1659889"/>
            </a:xfrm>
            <a:custGeom>
              <a:avLst/>
              <a:gdLst/>
              <a:ahLst/>
              <a:cxnLst/>
              <a:rect b="b" l="l" r="r" t="t"/>
              <a:pathLst>
                <a:path h="1659890" w="10187940">
                  <a:moveTo>
                    <a:pt x="10041182" y="1659775"/>
                  </a:moveTo>
                  <a:lnTo>
                    <a:pt x="146720" y="1659775"/>
                  </a:lnTo>
                  <a:lnTo>
                    <a:pt x="139512" y="1659599"/>
                  </a:lnTo>
                  <a:lnTo>
                    <a:pt x="97299" y="1651201"/>
                  </a:lnTo>
                  <a:lnTo>
                    <a:pt x="59311" y="1630896"/>
                  </a:lnTo>
                  <a:lnTo>
                    <a:pt x="28877" y="1600463"/>
                  </a:lnTo>
                  <a:lnTo>
                    <a:pt x="8572" y="1562475"/>
                  </a:lnTo>
                  <a:lnTo>
                    <a:pt x="176" y="1520262"/>
                  </a:lnTo>
                  <a:lnTo>
                    <a:pt x="0" y="1513054"/>
                  </a:lnTo>
                  <a:lnTo>
                    <a:pt x="0" y="146720"/>
                  </a:lnTo>
                  <a:lnTo>
                    <a:pt x="6316" y="104128"/>
                  </a:lnTo>
                  <a:lnTo>
                    <a:pt x="24726" y="65206"/>
                  </a:lnTo>
                  <a:lnTo>
                    <a:pt x="53640" y="33302"/>
                  </a:lnTo>
                  <a:lnTo>
                    <a:pt x="90572" y="11168"/>
                  </a:lnTo>
                  <a:lnTo>
                    <a:pt x="132339" y="704"/>
                  </a:lnTo>
                  <a:lnTo>
                    <a:pt x="146720" y="0"/>
                  </a:lnTo>
                  <a:lnTo>
                    <a:pt x="10041182" y="0"/>
                  </a:lnTo>
                  <a:lnTo>
                    <a:pt x="10083772" y="6316"/>
                  </a:lnTo>
                  <a:lnTo>
                    <a:pt x="10122694" y="24726"/>
                  </a:lnTo>
                  <a:lnTo>
                    <a:pt x="10154599" y="53640"/>
                  </a:lnTo>
                  <a:lnTo>
                    <a:pt x="10176733" y="90572"/>
                  </a:lnTo>
                  <a:lnTo>
                    <a:pt x="10187197" y="132338"/>
                  </a:lnTo>
                  <a:lnTo>
                    <a:pt x="10187903" y="146720"/>
                  </a:lnTo>
                  <a:lnTo>
                    <a:pt x="10187903" y="1513054"/>
                  </a:lnTo>
                  <a:lnTo>
                    <a:pt x="10181585" y="1555645"/>
                  </a:lnTo>
                  <a:lnTo>
                    <a:pt x="10163175" y="1594567"/>
                  </a:lnTo>
                  <a:lnTo>
                    <a:pt x="10134260" y="1626471"/>
                  </a:lnTo>
                  <a:lnTo>
                    <a:pt x="10097328" y="1648606"/>
                  </a:lnTo>
                  <a:lnTo>
                    <a:pt x="10055563" y="1659070"/>
                  </a:lnTo>
                  <a:lnTo>
                    <a:pt x="10041182" y="1659775"/>
                  </a:lnTo>
                  <a:close/>
                </a:path>
              </a:pathLst>
            </a:custGeom>
            <a:solidFill>
              <a:srgbClr val="DBFBE7"/>
            </a:solidFill>
          </p:spPr>
          <p:txBody>
            <a:bodyPr bIns="0" lIns="0" rIns="0" rtlCol="0" tIns="0" wrap="square"/>
            <a:lstStyle/>
            <a:p>
              <a:pPr>
                <a:defRPr>
                  <a:latin typeface="Noto Sans JP"/>
                  <a:ea typeface="Noto Sans JP"/>
                  <a:cs typeface="Noto Sans JP"/>
                </a:defRPr>
              </a:pPr>
            </a:p>
          </p:txBody>
        </p:sp>
      </p:grpSp>
      <p:sp>
        <p:nvSpPr>
          <p:cNvPr id="8" name="object 8"/>
          <p:cNvSpPr txBox="1"/>
          <p:nvPr/>
        </p:nvSpPr>
        <p:spPr>
          <a:xfrm>
            <a:off x="3615447" y="2070218"/>
            <a:ext cx="4737735" cy="295275"/>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b="0" dirty="0" spc="-5" sz="1750">
                <a:solidFill>
                  <a:srgbClr val="374050"/>
                </a:solidFill>
                <a:latin typeface="Noto Sans JP"/>
                <a:ea typeface="Noto Sans JP"/>
                <a:cs typeface="Noto Sans JP"/>
              </a:rPr>
              <a:t>今この瞬間に意図的に注意を向ける心の在り方</a:t>
            </a:r>
            <a:endParaRPr sz="1750">
              <a:latin typeface="Noto Sans JP Thin"/>
              <a:cs typeface="Noto Sans JP Thin"/>
            </a:endParaRPr>
          </a:p>
        </p:txBody>
      </p:sp>
      <p:sp>
        <p:nvSpPr>
          <p:cNvPr id="9" name="object 9"/>
          <p:cNvSpPr/>
          <p:nvPr/>
        </p:nvSpPr>
        <p:spPr>
          <a:xfrm>
            <a:off x="1255689" y="2765902"/>
            <a:ext cx="4585335" cy="1449070"/>
          </a:xfrm>
          <a:custGeom>
            <a:avLst/>
            <a:gdLst/>
            <a:ahLst/>
            <a:cxnLst/>
            <a:rect b="b" l="l" r="r" t="t"/>
            <a:pathLst>
              <a:path h="1449070" w="4585335">
                <a:moveTo>
                  <a:pt x="4482199" y="1448864"/>
                </a:moveTo>
                <a:lnTo>
                  <a:pt x="102814" y="1448864"/>
                </a:lnTo>
                <a:lnTo>
                  <a:pt x="95659" y="1448159"/>
                </a:lnTo>
                <a:lnTo>
                  <a:pt x="54912" y="1434333"/>
                </a:lnTo>
                <a:lnTo>
                  <a:pt x="22559" y="1405966"/>
                </a:lnTo>
                <a:lnTo>
                  <a:pt x="3523" y="1367378"/>
                </a:lnTo>
                <a:lnTo>
                  <a:pt x="0" y="1346049"/>
                </a:lnTo>
                <a:lnTo>
                  <a:pt x="0" y="1338824"/>
                </a:lnTo>
                <a:lnTo>
                  <a:pt x="0" y="102814"/>
                </a:lnTo>
                <a:lnTo>
                  <a:pt x="11141" y="61254"/>
                </a:lnTo>
                <a:lnTo>
                  <a:pt x="37339" y="27120"/>
                </a:lnTo>
                <a:lnTo>
                  <a:pt x="74605" y="5611"/>
                </a:lnTo>
                <a:lnTo>
                  <a:pt x="102814" y="0"/>
                </a:lnTo>
                <a:lnTo>
                  <a:pt x="4482199" y="0"/>
                </a:lnTo>
                <a:lnTo>
                  <a:pt x="4523759" y="11141"/>
                </a:lnTo>
                <a:lnTo>
                  <a:pt x="4557893" y="37339"/>
                </a:lnTo>
                <a:lnTo>
                  <a:pt x="4579403" y="74604"/>
                </a:lnTo>
                <a:lnTo>
                  <a:pt x="4585014" y="102814"/>
                </a:lnTo>
                <a:lnTo>
                  <a:pt x="4585014" y="1346049"/>
                </a:lnTo>
                <a:lnTo>
                  <a:pt x="4573873" y="1387609"/>
                </a:lnTo>
                <a:lnTo>
                  <a:pt x="4547675" y="1421743"/>
                </a:lnTo>
                <a:lnTo>
                  <a:pt x="4510408" y="1443253"/>
                </a:lnTo>
                <a:lnTo>
                  <a:pt x="4489355" y="1448159"/>
                </a:lnTo>
                <a:lnTo>
                  <a:pt x="4482199" y="1448864"/>
                </a:lnTo>
                <a:close/>
              </a:path>
            </a:pathLst>
          </a:custGeom>
          <a:solidFill>
            <a:srgbClr val="F0FDF4"/>
          </a:solidFill>
        </p:spPr>
        <p:txBody>
          <a:bodyPr bIns="0" lIns="0" rIns="0" rtlCol="0" tIns="0" wrap="square"/>
          <a:lstStyle/>
          <a:p>
            <a:pPr>
              <a:defRPr>
                <a:latin typeface="Noto Sans JP"/>
                <a:ea typeface="Noto Sans JP"/>
                <a:cs typeface="Noto Sans JP"/>
              </a:defRPr>
            </a:pPr>
          </a:p>
        </p:txBody>
      </p:sp>
      <p:sp>
        <p:nvSpPr>
          <p:cNvPr id="10" name="object 10"/>
          <p:cNvSpPr txBox="1"/>
          <p:nvPr/>
        </p:nvSpPr>
        <p:spPr>
          <a:xfrm>
            <a:off x="1536430" y="3266724"/>
            <a:ext cx="396875" cy="421640"/>
          </a:xfrm>
          <a:prstGeom prst="rect">
            <a:avLst/>
          </a:prstGeom>
        </p:spPr>
        <p:txBody>
          <a:bodyPr bIns="0" lIns="0" rIns="0" rtlCol="0" tIns="12700" vert="horz" wrap="square">
            <a:spAutoFit/>
          </a:bodyPr>
          <a:lstStyle/>
          <a:p>
            <a:pPr marL="12700">
              <a:lnSpc>
                <a:spcPct val="100000"/>
              </a:lnSpc>
              <a:spcBef>
                <a:spcPts val="100"/>
              </a:spcBef>
              <a:defRPr>
                <a:latin typeface="Noto Sans JP"/>
                <a:ea typeface="Noto Sans JP"/>
                <a:cs typeface="Noto Sans JP"/>
              </a:defRPr>
            </a:pPr>
            <a:r>
              <a:rPr dirty="0" spc="375" sz="2600">
                <a:solidFill>
                  <a:srgbClr val="16A24A"/>
                </a:solidFill>
                <a:latin typeface="Noto Sans JP"/>
                <a:ea typeface="Noto Sans JP"/>
                <a:cs typeface="Noto Sans JP"/>
                <a:sym typeface="Noto Sans JP"/>
              </a:rPr>
              <a:t></a:t>
            </a:r>
            <a:endParaRPr sz="2600">
              <a:latin typeface="Arial"/>
              <a:cs typeface="Arial"/>
            </a:endParaRPr>
          </a:p>
        </p:txBody>
      </p:sp>
      <p:sp>
        <p:nvSpPr>
          <p:cNvPr id="11" name="object 11"/>
          <p:cNvSpPr txBox="1"/>
          <p:nvPr/>
        </p:nvSpPr>
        <p:spPr>
          <a:xfrm>
            <a:off x="2127897" y="3070485"/>
            <a:ext cx="3381375" cy="833119"/>
          </a:xfrm>
          <a:prstGeom prst="rect">
            <a:avLst/>
          </a:prstGeom>
        </p:spPr>
        <p:txBody>
          <a:bodyPr bIns="0" lIns="0" rIns="0" rtlCol="0" tIns="15240" vert="horz" wrap="square">
            <a:spAutoFit/>
          </a:bodyPr>
          <a:lstStyle/>
          <a:p>
            <a:pPr marL="12700">
              <a:lnSpc>
                <a:spcPct val="100000"/>
              </a:lnSpc>
              <a:spcBef>
                <a:spcPts val="120"/>
              </a:spcBef>
              <a:defRPr>
                <a:latin typeface="Noto Sans JP"/>
                <a:ea typeface="Noto Sans JP"/>
                <a:cs typeface="Noto Sans JP"/>
              </a:defRPr>
            </a:pPr>
            <a:r>
              <a:rPr b="0" dirty="0" spc="-5" sz="1450">
                <a:solidFill>
                  <a:srgbClr val="166533"/>
                </a:solidFill>
                <a:latin typeface="Noto Sans JP"/>
                <a:ea typeface="Noto Sans JP"/>
                <a:cs typeface="Noto Sans JP"/>
              </a:rPr>
              <a:t>あるがままを受け入れる</a:t>
            </a:r>
            <a:endParaRPr sz="1450">
              <a:latin typeface="Noto Sans JP Thin"/>
              <a:cs typeface="Noto Sans JP Thin"/>
            </a:endParaRPr>
          </a:p>
          <a:p>
            <a:pPr marL="12700">
              <a:lnSpc>
                <a:spcPct val="100000"/>
              </a:lnSpc>
              <a:spcBef>
                <a:spcPts val="1010"/>
              </a:spcBef>
              <a:defRPr>
                <a:latin typeface="Noto Sans JP"/>
                <a:ea typeface="Noto Sans JP"/>
                <a:cs typeface="Noto Sans JP"/>
              </a:defRPr>
            </a:pPr>
            <a:r>
              <a:rPr b="0" dirty="0" spc="-20" sz="1300">
                <a:solidFill>
                  <a:srgbClr val="374050"/>
                </a:solidFill>
                <a:latin typeface="Noto Sans JP"/>
                <a:ea typeface="Noto Sans JP"/>
                <a:cs typeface="Noto Sans JP"/>
              </a:rPr>
              <a:t>評価や判断をせず、現在の状況をそのまま観</a:t>
            </a:r>
            <a:endParaRPr sz="1300">
              <a:latin typeface="Noto Sans JP Thin"/>
              <a:cs typeface="Noto Sans JP Thin"/>
            </a:endParaRPr>
          </a:p>
          <a:p>
            <a:pPr marL="12700">
              <a:lnSpc>
                <a:spcPct val="100000"/>
              </a:lnSpc>
              <a:spcBef>
                <a:spcPts val="464"/>
              </a:spcBef>
              <a:defRPr>
                <a:latin typeface="Noto Sans JP"/>
                <a:ea typeface="Noto Sans JP"/>
                <a:cs typeface="Noto Sans JP"/>
              </a:defRPr>
            </a:pPr>
            <a:r>
              <a:rPr b="0" dirty="0" spc="-20" sz="1300">
                <a:solidFill>
                  <a:srgbClr val="374050"/>
                </a:solidFill>
                <a:latin typeface="Noto Sans JP"/>
                <a:ea typeface="Noto Sans JP"/>
                <a:cs typeface="Noto Sans JP"/>
              </a:rPr>
              <a:t>察する</a:t>
            </a:r>
            <a:endParaRPr sz="1300">
              <a:latin typeface="Noto Sans JP Thin"/>
              <a:cs typeface="Noto Sans JP Thin"/>
            </a:endParaRPr>
          </a:p>
        </p:txBody>
      </p:sp>
      <p:sp>
        <p:nvSpPr>
          <p:cNvPr id="12" name="object 12"/>
          <p:cNvSpPr/>
          <p:nvPr/>
        </p:nvSpPr>
        <p:spPr>
          <a:xfrm>
            <a:off x="6134144" y="2765902"/>
            <a:ext cx="4576445" cy="1449070"/>
          </a:xfrm>
          <a:custGeom>
            <a:avLst/>
            <a:gdLst/>
            <a:ahLst/>
            <a:cxnLst/>
            <a:rect b="b" l="l" r="r" t="t"/>
            <a:pathLst>
              <a:path h="1449070" w="4576445">
                <a:moveTo>
                  <a:pt x="4473030" y="1448864"/>
                </a:moveTo>
                <a:lnTo>
                  <a:pt x="102814" y="1448864"/>
                </a:lnTo>
                <a:lnTo>
                  <a:pt x="95657" y="1448159"/>
                </a:lnTo>
                <a:lnTo>
                  <a:pt x="54912" y="1434333"/>
                </a:lnTo>
                <a:lnTo>
                  <a:pt x="22559" y="1405966"/>
                </a:lnTo>
                <a:lnTo>
                  <a:pt x="3523" y="1367378"/>
                </a:lnTo>
                <a:lnTo>
                  <a:pt x="0" y="1346049"/>
                </a:lnTo>
                <a:lnTo>
                  <a:pt x="0" y="1338824"/>
                </a:lnTo>
                <a:lnTo>
                  <a:pt x="0" y="102814"/>
                </a:lnTo>
                <a:lnTo>
                  <a:pt x="11141" y="61254"/>
                </a:lnTo>
                <a:lnTo>
                  <a:pt x="37338" y="27120"/>
                </a:lnTo>
                <a:lnTo>
                  <a:pt x="74604" y="5611"/>
                </a:lnTo>
                <a:lnTo>
                  <a:pt x="102814" y="0"/>
                </a:lnTo>
                <a:lnTo>
                  <a:pt x="4473030" y="0"/>
                </a:lnTo>
                <a:lnTo>
                  <a:pt x="4514588" y="11141"/>
                </a:lnTo>
                <a:lnTo>
                  <a:pt x="4548723" y="37339"/>
                </a:lnTo>
                <a:lnTo>
                  <a:pt x="4570232" y="74604"/>
                </a:lnTo>
                <a:lnTo>
                  <a:pt x="4575844" y="102814"/>
                </a:lnTo>
                <a:lnTo>
                  <a:pt x="4575844" y="1346049"/>
                </a:lnTo>
                <a:lnTo>
                  <a:pt x="4564701" y="1387609"/>
                </a:lnTo>
                <a:lnTo>
                  <a:pt x="4538504" y="1421743"/>
                </a:lnTo>
                <a:lnTo>
                  <a:pt x="4501238" y="1443253"/>
                </a:lnTo>
                <a:lnTo>
                  <a:pt x="4480185" y="1448159"/>
                </a:lnTo>
                <a:lnTo>
                  <a:pt x="4473030" y="1448864"/>
                </a:lnTo>
                <a:close/>
              </a:path>
            </a:pathLst>
          </a:custGeom>
          <a:solidFill>
            <a:srgbClr val="F0FDF4"/>
          </a:solidFill>
        </p:spPr>
        <p:txBody>
          <a:bodyPr bIns="0" lIns="0" rIns="0" rtlCol="0" tIns="0" wrap="square"/>
          <a:lstStyle/>
          <a:p>
            <a:pPr>
              <a:defRPr>
                <a:latin typeface="Noto Sans JP"/>
                <a:ea typeface="Noto Sans JP"/>
                <a:cs typeface="Noto Sans JP"/>
              </a:defRPr>
            </a:pPr>
          </a:p>
        </p:txBody>
      </p:sp>
      <p:sp>
        <p:nvSpPr>
          <p:cNvPr id="13" name="object 13"/>
          <p:cNvSpPr txBox="1"/>
          <p:nvPr/>
        </p:nvSpPr>
        <p:spPr>
          <a:xfrm>
            <a:off x="6411590" y="3266724"/>
            <a:ext cx="355600" cy="421640"/>
          </a:xfrm>
          <a:prstGeom prst="rect">
            <a:avLst/>
          </a:prstGeom>
        </p:spPr>
        <p:txBody>
          <a:bodyPr bIns="0" lIns="0" rIns="0" rtlCol="0" tIns="12700" vert="horz" wrap="square">
            <a:spAutoFit/>
          </a:bodyPr>
          <a:lstStyle/>
          <a:p>
            <a:pPr marL="12700">
              <a:lnSpc>
                <a:spcPct val="100000"/>
              </a:lnSpc>
              <a:spcBef>
                <a:spcPts val="100"/>
              </a:spcBef>
              <a:defRPr>
                <a:latin typeface="Noto Sans JP"/>
                <a:ea typeface="Noto Sans JP"/>
                <a:cs typeface="Noto Sans JP"/>
              </a:defRPr>
            </a:pPr>
            <a:r>
              <a:rPr dirty="0" spc="50" sz="2600">
                <a:solidFill>
                  <a:srgbClr val="16A24A"/>
                </a:solidFill>
                <a:latin typeface="Noto Sans JP"/>
                <a:ea typeface="Noto Sans JP"/>
                <a:cs typeface="Noto Sans JP"/>
                <a:sym typeface="Noto Sans JP"/>
              </a:rPr>
              <a:t></a:t>
            </a:r>
            <a:endParaRPr sz="2600">
              <a:latin typeface="Arial"/>
              <a:cs typeface="Arial"/>
            </a:endParaRPr>
          </a:p>
        </p:txBody>
      </p:sp>
      <p:sp>
        <p:nvSpPr>
          <p:cNvPr id="14" name="object 14"/>
          <p:cNvSpPr txBox="1"/>
          <p:nvPr/>
        </p:nvSpPr>
        <p:spPr>
          <a:xfrm>
            <a:off x="6961792" y="3080062"/>
            <a:ext cx="3224530" cy="695325"/>
          </a:xfrm>
          <a:prstGeom prst="rect">
            <a:avLst/>
          </a:prstGeom>
        </p:spPr>
        <p:txBody>
          <a:bodyPr bIns="0" lIns="0" rIns="0" rtlCol="0" tIns="143510" vert="horz" wrap="square">
            <a:spAutoFit/>
          </a:bodyPr>
          <a:lstStyle/>
          <a:p>
            <a:pPr marL="12700">
              <a:lnSpc>
                <a:spcPct val="100000"/>
              </a:lnSpc>
              <a:spcBef>
                <a:spcPts val="1130"/>
              </a:spcBef>
              <a:defRPr>
                <a:latin typeface="Noto Sans JP"/>
                <a:ea typeface="Noto Sans JP"/>
                <a:cs typeface="Noto Sans JP"/>
              </a:defRPr>
            </a:pPr>
            <a:r>
              <a:rPr b="0" dirty="0" spc="-10" sz="1450">
                <a:solidFill>
                  <a:srgbClr val="166533"/>
                </a:solidFill>
                <a:latin typeface="Noto Sans JP"/>
                <a:ea typeface="Noto Sans JP"/>
                <a:cs typeface="Noto Sans JP"/>
              </a:rPr>
              <a:t>今この瞬間に集中</a:t>
            </a:r>
            <a:endParaRPr sz="1450">
              <a:latin typeface="Noto Sans JP Thin"/>
              <a:cs typeface="Noto Sans JP Thin"/>
            </a:endParaRPr>
          </a:p>
          <a:p>
            <a:pPr marL="12700">
              <a:lnSpc>
                <a:spcPct val="100000"/>
              </a:lnSpc>
              <a:spcBef>
                <a:spcPts val="935"/>
              </a:spcBef>
              <a:defRPr>
                <a:latin typeface="Noto Sans JP"/>
                <a:ea typeface="Noto Sans JP"/>
                <a:cs typeface="Noto Sans JP"/>
              </a:defRPr>
            </a:pPr>
            <a:r>
              <a:rPr b="0" dirty="0" spc="-5" sz="1300">
                <a:solidFill>
                  <a:srgbClr val="374050"/>
                </a:solidFill>
                <a:latin typeface="Noto Sans JP"/>
                <a:ea typeface="Noto Sans JP"/>
                <a:cs typeface="Noto Sans JP"/>
              </a:rPr>
              <a:t>過去や未来ではなく、現在に意識を向ける</a:t>
            </a:r>
            <a:endParaRPr sz="1300">
              <a:latin typeface="Noto Sans JP Thin"/>
              <a:cs typeface="Noto Sans JP Thin"/>
            </a:endParaRPr>
          </a:p>
        </p:txBody>
      </p:sp>
      <p:sp>
        <p:nvSpPr>
          <p:cNvPr id="15" name="object 15"/>
          <p:cNvSpPr txBox="1"/>
          <p:nvPr/>
        </p:nvSpPr>
        <p:spPr>
          <a:xfrm>
            <a:off x="4266376" y="5146580"/>
            <a:ext cx="3435985" cy="1086485"/>
          </a:xfrm>
          <a:prstGeom prst="rect">
            <a:avLst/>
          </a:prstGeom>
        </p:spPr>
        <p:txBody>
          <a:bodyPr bIns="0" lIns="0" rIns="0" rtlCol="0" tIns="14604" vert="horz" wrap="square">
            <a:spAutoFit/>
          </a:bodyPr>
          <a:lstStyle/>
          <a:p>
            <a:pPr algn="ctr">
              <a:lnSpc>
                <a:spcPct val="100000"/>
              </a:lnSpc>
              <a:spcBef>
                <a:spcPts val="114"/>
              </a:spcBef>
              <a:defRPr>
                <a:latin typeface="Noto Sans JP"/>
                <a:ea typeface="Noto Sans JP"/>
                <a:cs typeface="Noto Sans JP"/>
              </a:defRPr>
            </a:pPr>
            <a:r>
              <a:rPr dirty="0" spc="365" sz="2150">
                <a:solidFill>
                  <a:srgbClr val="15803C"/>
                </a:solidFill>
                <a:latin typeface="Noto Sans JP"/>
                <a:ea typeface="Noto Sans JP"/>
                <a:cs typeface="Noto Sans JP"/>
                <a:sym typeface="Noto Sans JP"/>
              </a:rPr>
              <a:t></a:t>
            </a:r>
            <a:r>
              <a:rPr dirty="0" spc="350" sz="2150">
                <a:solidFill>
                  <a:srgbClr val="15803C"/>
                </a:solidFill>
                <a:latin typeface="Noto Sans JP"/>
                <a:ea typeface="Noto Sans JP"/>
                <a:cs typeface="Noto Sans JP"/>
              </a:rPr>
              <a:t> </a:t>
            </a:r>
            <a:r>
              <a:rPr b="0" baseline="1587" dirty="0" spc="-15" sz="2625">
                <a:solidFill>
                  <a:srgbClr val="166533"/>
                </a:solidFill>
                <a:latin typeface="Noto Sans JP"/>
                <a:ea typeface="Noto Sans JP"/>
                <a:cs typeface="Noto Sans JP"/>
              </a:rPr>
              <a:t>医療分野への導入</a:t>
            </a:r>
            <a:endParaRPr baseline="1587" sz="2625">
              <a:latin typeface="Noto Sans JP Thin"/>
              <a:cs typeface="Noto Sans JP Thin"/>
            </a:endParaRPr>
          </a:p>
          <a:p>
            <a:pPr algn="ctr">
              <a:lnSpc>
                <a:spcPct val="100000"/>
              </a:lnSpc>
              <a:spcBef>
                <a:spcPts val="1440"/>
              </a:spcBef>
              <a:defRPr>
                <a:latin typeface="Noto Sans JP"/>
                <a:ea typeface="Noto Sans JP"/>
                <a:cs typeface="Noto Sans JP"/>
              </a:defRPr>
            </a:pPr>
            <a:r>
              <a:rPr b="0" dirty="0" sz="1450">
                <a:solidFill>
                  <a:srgbClr val="15803C"/>
                </a:solidFill>
                <a:latin typeface="Noto Sans JP"/>
                <a:ea typeface="Noto Sans JP"/>
                <a:cs typeface="Noto Sans JP"/>
              </a:rPr>
              <a:t>Jon</a:t>
            </a:r>
            <a:r>
              <a:rPr b="0" dirty="0" spc="295" sz="1450">
                <a:solidFill>
                  <a:srgbClr val="15803C"/>
                </a:solidFill>
                <a:latin typeface="Noto Sans JP"/>
                <a:ea typeface="Noto Sans JP"/>
                <a:cs typeface="Noto Sans JP"/>
              </a:rPr>
              <a:t> </a:t>
            </a:r>
            <a:r>
              <a:rPr b="0" dirty="0" sz="1450">
                <a:solidFill>
                  <a:srgbClr val="15803C"/>
                </a:solidFill>
                <a:latin typeface="Noto Sans JP"/>
                <a:ea typeface="Noto Sans JP"/>
                <a:cs typeface="Noto Sans JP"/>
              </a:rPr>
              <a:t>Kabat-Zinn</a:t>
            </a:r>
            <a:r>
              <a:rPr b="0" dirty="0" spc="295" sz="1450">
                <a:solidFill>
                  <a:srgbClr val="15803C"/>
                </a:solidFill>
                <a:latin typeface="Noto Sans JP"/>
                <a:ea typeface="Noto Sans JP"/>
                <a:cs typeface="Noto Sans JP"/>
              </a:rPr>
              <a:t> </a:t>
            </a:r>
            <a:r>
              <a:rPr b="0" dirty="0" spc="-30" sz="1450">
                <a:solidFill>
                  <a:srgbClr val="374050"/>
                </a:solidFill>
                <a:latin typeface="Noto Sans JP"/>
                <a:ea typeface="Noto Sans JP"/>
                <a:cs typeface="Noto Sans JP"/>
              </a:rPr>
              <a:t>によって医療分野に導入</a:t>
            </a:r>
            <a:endParaRPr sz="1450">
              <a:latin typeface="Noto Sans JP Thin"/>
              <a:cs typeface="Noto Sans JP Thin"/>
            </a:endParaRPr>
          </a:p>
          <a:p>
            <a:pPr algn="ctr">
              <a:lnSpc>
                <a:spcPct val="100000"/>
              </a:lnSpc>
              <a:spcBef>
                <a:spcPts val="1010"/>
              </a:spcBef>
              <a:defRPr>
                <a:latin typeface="Noto Sans JP"/>
                <a:ea typeface="Noto Sans JP"/>
                <a:cs typeface="Noto Sans JP"/>
              </a:defRPr>
            </a:pPr>
            <a:r>
              <a:rPr b="0" dirty="0" spc="-15" sz="1300">
                <a:solidFill>
                  <a:srgbClr val="4A5462"/>
                </a:solidFill>
                <a:latin typeface="Noto Sans JP"/>
                <a:ea typeface="Noto Sans JP"/>
                <a:cs typeface="Noto Sans JP"/>
              </a:rPr>
              <a:t>ストレス低減法として広く活用されています</a:t>
            </a:r>
            <a:endParaRPr sz="1300">
              <a:latin typeface="Noto Sans JP Thin"/>
              <a:cs typeface="Noto Sans JP Thin"/>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descr="$PPTXTitle" id="2" name="object 2"/>
          <p:cNvSpPr txBox="1">
            <a:spLocks noGrp="1"/>
          </p:cNvSpPr>
          <p:nvPr>
            <p:ph type="title"/>
          </p:nvPr>
        </p:nvSpPr>
        <p:spPr>
          <a:xfrm>
            <a:off x="2260529" y="763802"/>
            <a:ext cx="7530465" cy="564515"/>
          </a:xfrm>
          <a:prstGeom prst="rect"/>
        </p:spPr>
        <p:txBody>
          <a:bodyPr bIns="0" lIns="0" rIns="0" rtlCol="0" tIns="17145" vert="horz" wrap="square">
            <a:spAutoFit/>
          </a:bodyPr>
          <a:lstStyle/>
          <a:p>
            <a:pPr marL="12700">
              <a:lnSpc>
                <a:spcPct val="100000"/>
              </a:lnSpc>
              <a:spcBef>
                <a:spcPts val="135"/>
              </a:spcBef>
              <a:defRPr>
                <a:latin typeface="Noto Sans JP"/>
                <a:ea typeface="Noto Sans JP"/>
                <a:cs typeface="Noto Sans JP"/>
              </a:defRPr>
            </a:pPr>
            <a:r>
              <a:rPr b="0" baseline="3174" dirty="0" spc="892" sz="5250">
                <a:solidFill>
                  <a:srgbClr val="16A24A"/>
                </a:solidFill>
                <a:latin typeface="Noto Sans JP"/>
                <a:ea typeface="Noto Sans JP"/>
                <a:cs typeface="Noto Sans JP"/>
                <a:sym typeface="Noto Sans JP"/>
              </a:rPr>
              <a:t></a:t>
            </a:r>
            <a:r>
              <a:rPr b="0" baseline="3174" dirty="0" spc="667" sz="5250">
                <a:solidFill>
                  <a:srgbClr val="16A24A"/>
                </a:solidFill>
                <a:latin typeface="Noto Sans JP"/>
                <a:ea typeface="Noto Sans JP"/>
                <a:cs typeface="Noto Sans JP"/>
              </a:rPr>
              <a:t> </a:t>
            </a:r>
            <a:r>
              <a:rPr dirty="0" spc="40" sz="3500">
                <a:latin typeface="Noto Sans JP"/>
                <a:ea typeface="Noto Sans JP"/>
                <a:cs typeface="Noto Sans JP"/>
              </a:rPr>
              <a:t>マインドフルネスの医学的根拠 </a:t>
            </a:r>
            <a:r>
              <a:rPr b="0" baseline="3174" dirty="0" spc="-1545" sz="5250">
                <a:solidFill>
                  <a:srgbClr val="21C45D"/>
                </a:solidFill>
                <a:latin typeface="Noto Sans JP"/>
                <a:ea typeface="Noto Sans JP"/>
                <a:cs typeface="Noto Sans JP"/>
              </a:rPr>
              <a:t></a:t>
            </a:r>
            <a:endParaRPr baseline="3174" sz="5250">
              <a:latin typeface="Arial"/>
              <a:cs typeface="Arial"/>
            </a:endParaRPr>
          </a:p>
        </p:txBody>
      </p:sp>
      <p:grpSp>
        <p:nvGrpSpPr>
          <p:cNvPr id="3" name="object 3"/>
          <p:cNvGrpSpPr/>
          <p:nvPr/>
        </p:nvGrpSpPr>
        <p:grpSpPr>
          <a:xfrm>
            <a:off x="655319" y="1630680"/>
            <a:ext cx="10662285" cy="4404360"/>
            <a:chOff x="655319" y="1630680"/>
            <a:chExt cx="10662285" cy="4404360"/>
          </a:xfrm>
        </p:grpSpPr>
        <p:pic>
          <p:nvPicPr>
            <p:cNvPr id="4" name="object 4"/>
            <p:cNvPicPr/>
            <p:nvPr/>
          </p:nvPicPr>
          <p:blipFill>
            <a:blip cstate="print" r:embed="rId2"/>
            <a:stretch>
              <a:fillRect/>
            </a:stretch>
          </p:blipFill>
          <p:spPr>
            <a:xfrm>
              <a:off x="655319" y="1630680"/>
              <a:ext cx="10661903" cy="4404359"/>
            </a:xfrm>
            <a:prstGeom prst="rect">
              <a:avLst/>
            </a:prstGeom>
          </p:spPr>
        </p:pic>
        <p:pic>
          <p:nvPicPr>
            <p:cNvPr id="5" name="object 5"/>
            <p:cNvPicPr/>
            <p:nvPr/>
          </p:nvPicPr>
          <p:blipFill>
            <a:blip cstate="print" r:embed="rId3"/>
            <a:stretch>
              <a:fillRect/>
            </a:stretch>
          </p:blipFill>
          <p:spPr>
            <a:xfrm>
              <a:off x="2301441" y="1966078"/>
              <a:ext cx="336549" cy="292099"/>
            </a:xfrm>
            <a:prstGeom prst="rect">
              <a:avLst/>
            </a:prstGeom>
          </p:spPr>
        </p:pic>
      </p:grpSp>
      <p:sp>
        <p:nvSpPr>
          <p:cNvPr id="6" name="object 6"/>
          <p:cNvSpPr txBox="1"/>
          <p:nvPr/>
        </p:nvSpPr>
        <p:spPr>
          <a:xfrm>
            <a:off x="1035110" y="2419718"/>
            <a:ext cx="2869565" cy="1187450"/>
          </a:xfrm>
          <a:prstGeom prst="rect">
            <a:avLst/>
          </a:prstGeom>
        </p:spPr>
        <p:txBody>
          <a:bodyPr bIns="0" lIns="0" rIns="0" rtlCol="0" tIns="15240" vert="horz" wrap="square">
            <a:spAutoFit/>
          </a:bodyPr>
          <a:lstStyle/>
          <a:p>
            <a:pPr algn="ctr">
              <a:lnSpc>
                <a:spcPct val="100000"/>
              </a:lnSpc>
              <a:spcBef>
                <a:spcPts val="120"/>
              </a:spcBef>
              <a:defRPr>
                <a:latin typeface="Noto Sans JP"/>
                <a:ea typeface="Noto Sans JP"/>
                <a:cs typeface="Noto Sans JP"/>
              </a:defRPr>
            </a:pPr>
            <a:r>
              <a:rPr b="0" dirty="0" sz="1450">
                <a:solidFill>
                  <a:srgbClr val="166533"/>
                </a:solidFill>
                <a:latin typeface="Noto Sans JP"/>
                <a:ea typeface="Noto Sans JP"/>
                <a:cs typeface="Noto Sans JP"/>
              </a:rPr>
              <a:t>HPA</a:t>
            </a:r>
            <a:r>
              <a:rPr b="0" dirty="0" spc="-15" sz="1450">
                <a:solidFill>
                  <a:srgbClr val="166533"/>
                </a:solidFill>
                <a:latin typeface="Noto Sans JP"/>
                <a:ea typeface="Noto Sans JP"/>
                <a:cs typeface="Noto Sans JP"/>
              </a:rPr>
              <a:t>軸の調整</a:t>
            </a:r>
            <a:endParaRPr sz="1450">
              <a:latin typeface="Noto Sans JP Thin"/>
              <a:cs typeface="Noto Sans JP Thin"/>
            </a:endParaRPr>
          </a:p>
          <a:p>
            <a:pPr algn="ctr">
              <a:lnSpc>
                <a:spcPct val="100000"/>
              </a:lnSpc>
              <a:spcBef>
                <a:spcPts val="1655"/>
              </a:spcBef>
              <a:defRPr>
                <a:latin typeface="Noto Sans JP"/>
                <a:ea typeface="Noto Sans JP"/>
                <a:cs typeface="Noto Sans JP"/>
              </a:defRPr>
            </a:pPr>
            <a:r>
              <a:rPr b="0" dirty="0" sz="1300">
                <a:solidFill>
                  <a:srgbClr val="374050"/>
                </a:solidFill>
                <a:latin typeface="Noto Sans JP"/>
                <a:ea typeface="Noto Sans JP"/>
                <a:cs typeface="Noto Sans JP"/>
              </a:rPr>
              <a:t>視床下部</a:t>
            </a:r>
            <a:r>
              <a:rPr b="0" dirty="0" spc="210" sz="1300">
                <a:solidFill>
                  <a:srgbClr val="374050"/>
                </a:solidFill>
                <a:latin typeface="Noto Sans JP"/>
                <a:ea typeface="Noto Sans JP"/>
                <a:cs typeface="Noto Sans JP"/>
              </a:rPr>
              <a:t>-下垂体-副腎系</a:t>
            </a:r>
            <a:endParaRPr sz="1300">
              <a:latin typeface="Noto Sans JP Thin"/>
              <a:cs typeface="Noto Sans JP Thin"/>
            </a:endParaRPr>
          </a:p>
          <a:p>
            <a:pPr algn="ctr" marL="12700" marR="5080">
              <a:lnSpc>
                <a:spcPct val="128099"/>
              </a:lnSpc>
              <a:spcBef>
                <a:spcPts val="630"/>
              </a:spcBef>
              <a:defRPr>
                <a:latin typeface="Noto Sans JP"/>
                <a:ea typeface="Noto Sans JP"/>
                <a:cs typeface="Noto Sans JP"/>
              </a:defRPr>
            </a:pPr>
            <a:r>
              <a:rPr b="0" dirty="0" spc="-5" sz="1150">
                <a:solidFill>
                  <a:srgbClr val="4A5462"/>
                </a:solidFill>
                <a:latin typeface="Noto Sans JP"/>
                <a:ea typeface="Noto Sans JP"/>
                <a:cs typeface="Noto Sans JP"/>
              </a:rPr>
              <a:t>ストレスホルモンの分泌を調整し、心拍数</a:t>
            </a:r>
            <a:r>
              <a:rPr b="0" dirty="0" spc="-10" sz="1150">
                <a:solidFill>
                  <a:srgbClr val="4A5462"/>
                </a:solidFill>
                <a:latin typeface="Noto Sans JP"/>
                <a:ea typeface="Noto Sans JP"/>
                <a:cs typeface="Noto Sans JP"/>
              </a:rPr>
              <a:t>や血圧を安定化</a:t>
            </a:r>
            <a:endParaRPr sz="1150">
              <a:latin typeface="Noto Sans JP Thin"/>
              <a:cs typeface="Noto Sans JP Thin"/>
            </a:endParaRPr>
          </a:p>
        </p:txBody>
      </p:sp>
      <p:grpSp>
        <p:nvGrpSpPr>
          <p:cNvPr id="7" name="object 7"/>
          <p:cNvGrpSpPr/>
          <p:nvPr/>
        </p:nvGrpSpPr>
        <p:grpSpPr>
          <a:xfrm>
            <a:off x="5819092" y="1940678"/>
            <a:ext cx="3844925" cy="339725"/>
            <a:chOff x="5819092" y="1940678"/>
            <a:chExt cx="3844925" cy="339725"/>
          </a:xfrm>
        </p:grpSpPr>
        <p:pic>
          <p:nvPicPr>
            <p:cNvPr id="8" name="object 8"/>
            <p:cNvPicPr/>
            <p:nvPr/>
          </p:nvPicPr>
          <p:blipFill>
            <a:blip cstate="print" r:embed="rId4"/>
            <a:stretch>
              <a:fillRect/>
            </a:stretch>
          </p:blipFill>
          <p:spPr>
            <a:xfrm>
              <a:off x="5819092" y="1940678"/>
              <a:ext cx="336549" cy="339724"/>
            </a:xfrm>
            <a:prstGeom prst="rect">
              <a:avLst/>
            </a:prstGeom>
          </p:spPr>
        </p:pic>
        <p:pic>
          <p:nvPicPr>
            <p:cNvPr id="9" name="object 9"/>
            <p:cNvPicPr/>
            <p:nvPr/>
          </p:nvPicPr>
          <p:blipFill>
            <a:blip cstate="print" r:embed="rId5"/>
            <a:stretch>
              <a:fillRect/>
            </a:stretch>
          </p:blipFill>
          <p:spPr>
            <a:xfrm>
              <a:off x="9346268" y="1940678"/>
              <a:ext cx="317499" cy="339724"/>
            </a:xfrm>
            <a:prstGeom prst="rect">
              <a:avLst/>
            </a:prstGeom>
          </p:spPr>
        </p:pic>
      </p:grpSp>
      <p:sp>
        <p:nvSpPr>
          <p:cNvPr id="10" name="object 10"/>
          <p:cNvSpPr txBox="1"/>
          <p:nvPr/>
        </p:nvSpPr>
        <p:spPr>
          <a:xfrm>
            <a:off x="5301052" y="2419718"/>
            <a:ext cx="1372870" cy="1299845"/>
          </a:xfrm>
          <a:prstGeom prst="rect">
            <a:avLst/>
          </a:prstGeom>
        </p:spPr>
        <p:txBody>
          <a:bodyPr bIns="0" lIns="0" rIns="0" rtlCol="0" tIns="15240" vert="horz" wrap="square">
            <a:spAutoFit/>
          </a:bodyPr>
          <a:lstStyle/>
          <a:p>
            <a:pPr marL="125095">
              <a:lnSpc>
                <a:spcPct val="100000"/>
              </a:lnSpc>
              <a:spcBef>
                <a:spcPts val="120"/>
              </a:spcBef>
              <a:defRPr>
                <a:latin typeface="Noto Sans JP"/>
                <a:ea typeface="Noto Sans JP"/>
                <a:cs typeface="Noto Sans JP"/>
              </a:defRPr>
            </a:pPr>
            <a:r>
              <a:rPr b="0" dirty="0" spc="-10" sz="1450">
                <a:solidFill>
                  <a:srgbClr val="166533"/>
                </a:solidFill>
                <a:latin typeface="Noto Sans JP"/>
                <a:ea typeface="Noto Sans JP"/>
                <a:cs typeface="Noto Sans JP"/>
              </a:rPr>
              <a:t>脳科学的証拠</a:t>
            </a:r>
            <a:endParaRPr sz="1450">
              <a:latin typeface="Noto Sans JP Thin"/>
              <a:cs typeface="Noto Sans JP Thin"/>
            </a:endParaRPr>
          </a:p>
          <a:p>
            <a:pPr algn="just" marL="12700" marR="5080">
              <a:lnSpc>
                <a:spcPct val="167700"/>
              </a:lnSpc>
              <a:spcBef>
                <a:spcPts val="595"/>
              </a:spcBef>
              <a:defRPr>
                <a:latin typeface="Noto Sans JP"/>
                <a:ea typeface="Noto Sans JP"/>
                <a:cs typeface="Noto Sans JP"/>
              </a:defRPr>
            </a:pPr>
            <a:r>
              <a:rPr b="0" dirty="0" spc="-10" sz="1300">
                <a:solidFill>
                  <a:srgbClr val="374050"/>
                </a:solidFill>
                <a:latin typeface="Noto Sans JP"/>
                <a:ea typeface="Noto Sans JP"/>
                <a:cs typeface="Noto Sans JP"/>
              </a:rPr>
              <a:t>前頭前野の活性化扁桃体の活動抑制</a:t>
            </a:r>
            <a:r>
              <a:rPr b="0" dirty="0" spc="-10" sz="1150">
                <a:solidFill>
                  <a:srgbClr val="4A5462"/>
                </a:solidFill>
                <a:latin typeface="Noto Sans JP"/>
                <a:ea typeface="Noto Sans JP"/>
                <a:cs typeface="Noto Sans JP"/>
              </a:rPr>
              <a:t>感情制御機能の向上</a:t>
            </a:r>
            <a:endParaRPr sz="1150">
              <a:latin typeface="Noto Sans JP Thin"/>
              <a:cs typeface="Noto Sans JP Thin"/>
            </a:endParaRPr>
          </a:p>
        </p:txBody>
      </p:sp>
      <p:sp>
        <p:nvSpPr>
          <p:cNvPr id="11" name="object 11"/>
          <p:cNvSpPr txBox="1"/>
          <p:nvPr/>
        </p:nvSpPr>
        <p:spPr>
          <a:xfrm>
            <a:off x="8669015" y="2419718"/>
            <a:ext cx="1672589" cy="1299845"/>
          </a:xfrm>
          <a:prstGeom prst="rect">
            <a:avLst/>
          </a:prstGeom>
        </p:spPr>
        <p:txBody>
          <a:bodyPr bIns="0" lIns="0" rIns="0" rtlCol="0" tIns="15240" vert="horz" wrap="square">
            <a:spAutoFit/>
          </a:bodyPr>
          <a:lstStyle/>
          <a:p>
            <a:pPr algn="ctr">
              <a:lnSpc>
                <a:spcPct val="100000"/>
              </a:lnSpc>
              <a:spcBef>
                <a:spcPts val="120"/>
              </a:spcBef>
              <a:defRPr>
                <a:latin typeface="Noto Sans JP"/>
                <a:ea typeface="Noto Sans JP"/>
                <a:cs typeface="Noto Sans JP"/>
              </a:defRPr>
            </a:pPr>
            <a:r>
              <a:rPr b="0" dirty="0" spc="-15" sz="1450">
                <a:solidFill>
                  <a:srgbClr val="166533"/>
                </a:solidFill>
                <a:latin typeface="Noto Sans JP"/>
                <a:ea typeface="Noto Sans JP"/>
                <a:cs typeface="Noto Sans JP"/>
              </a:rPr>
              <a:t>実証効果</a:t>
            </a:r>
            <a:endParaRPr sz="1450">
              <a:latin typeface="Noto Sans JP Thin"/>
              <a:cs typeface="Noto Sans JP Thin"/>
            </a:endParaRPr>
          </a:p>
          <a:p>
            <a:pPr algn="ctr">
              <a:lnSpc>
                <a:spcPct val="100000"/>
              </a:lnSpc>
              <a:spcBef>
                <a:spcPts val="1655"/>
              </a:spcBef>
              <a:defRPr>
                <a:latin typeface="Noto Sans JP"/>
                <a:ea typeface="Noto Sans JP"/>
                <a:cs typeface="Noto Sans JP"/>
              </a:defRPr>
            </a:pPr>
            <a:r>
              <a:rPr b="0" dirty="0" spc="-10" sz="1300">
                <a:solidFill>
                  <a:srgbClr val="374050"/>
                </a:solidFill>
                <a:latin typeface="Noto Sans JP"/>
                <a:ea typeface="Noto Sans JP"/>
                <a:cs typeface="Noto Sans JP"/>
              </a:rPr>
              <a:t>ストレス耐性の向上</a:t>
            </a:r>
            <a:endParaRPr sz="1300">
              <a:latin typeface="Noto Sans JP Thin"/>
              <a:cs typeface="Noto Sans JP Thin"/>
            </a:endParaRPr>
          </a:p>
          <a:p>
            <a:pPr algn="ctr">
              <a:lnSpc>
                <a:spcPct val="100000"/>
              </a:lnSpc>
              <a:spcBef>
                <a:spcPts val="1090"/>
              </a:spcBef>
              <a:defRPr>
                <a:latin typeface="Noto Sans JP"/>
                <a:ea typeface="Noto Sans JP"/>
                <a:cs typeface="Noto Sans JP"/>
              </a:defRPr>
            </a:pPr>
            <a:r>
              <a:rPr b="0" dirty="0" spc="-10" sz="1300">
                <a:solidFill>
                  <a:srgbClr val="374050"/>
                </a:solidFill>
                <a:latin typeface="Noto Sans JP"/>
                <a:ea typeface="Noto Sans JP"/>
                <a:cs typeface="Noto Sans JP"/>
              </a:rPr>
              <a:t>感情調整力の改善</a:t>
            </a:r>
            <a:endParaRPr sz="1300">
              <a:latin typeface="Noto Sans JP Thin"/>
              <a:cs typeface="Noto Sans JP Thin"/>
            </a:endParaRPr>
          </a:p>
          <a:p>
            <a:pPr algn="ctr">
              <a:lnSpc>
                <a:spcPct val="100000"/>
              </a:lnSpc>
              <a:spcBef>
                <a:spcPts val="1019"/>
              </a:spcBef>
              <a:defRPr>
                <a:latin typeface="Noto Sans JP"/>
                <a:ea typeface="Noto Sans JP"/>
                <a:cs typeface="Noto Sans JP"/>
              </a:defRPr>
            </a:pPr>
            <a:r>
              <a:rPr b="0" dirty="0" spc="-5" sz="1150">
                <a:solidFill>
                  <a:srgbClr val="4A5462"/>
                </a:solidFill>
                <a:latin typeface="Noto Sans JP"/>
                <a:ea typeface="Noto Sans JP"/>
                <a:cs typeface="Noto Sans JP"/>
              </a:rPr>
              <a:t>科学的に実証された効果</a:t>
            </a:r>
            <a:endParaRPr sz="1150">
              <a:latin typeface="Noto Sans JP Thin"/>
              <a:cs typeface="Noto Sans JP Thin"/>
            </a:endParaRPr>
          </a:p>
        </p:txBody>
      </p:sp>
      <p:sp>
        <p:nvSpPr>
          <p:cNvPr id="12" name="object 12"/>
          <p:cNvSpPr txBox="1"/>
          <p:nvPr/>
        </p:nvSpPr>
        <p:spPr>
          <a:xfrm>
            <a:off x="1109954" y="4898913"/>
            <a:ext cx="271145" cy="362585"/>
          </a:xfrm>
          <a:prstGeom prst="rect">
            <a:avLst/>
          </a:prstGeom>
        </p:spPr>
        <p:txBody>
          <a:bodyPr bIns="0" lIns="0" rIns="0" rtlCol="0" tIns="13970" vert="horz" wrap="square">
            <a:spAutoFit/>
          </a:bodyPr>
          <a:lstStyle/>
          <a:p>
            <a:pPr marL="12700">
              <a:lnSpc>
                <a:spcPct val="100000"/>
              </a:lnSpc>
              <a:spcBef>
                <a:spcPts val="110"/>
              </a:spcBef>
              <a:defRPr>
                <a:latin typeface="Noto Sans JP"/>
                <a:ea typeface="Noto Sans JP"/>
                <a:cs typeface="Noto Sans JP"/>
              </a:defRPr>
            </a:pPr>
            <a:r>
              <a:rPr dirty="0" spc="1140" sz="2200">
                <a:solidFill>
                  <a:srgbClr val="16A24A"/>
                </a:solidFill>
                <a:latin typeface="Noto Sans JP"/>
                <a:ea typeface="Noto Sans JP"/>
                <a:cs typeface="Noto Sans JP"/>
              </a:rPr>
              <a:t>“</a:t>
            </a:r>
            <a:endParaRPr sz="2200">
              <a:latin typeface="Arial"/>
              <a:cs typeface="Arial"/>
            </a:endParaRPr>
          </a:p>
        </p:txBody>
      </p:sp>
      <p:sp>
        <p:nvSpPr>
          <p:cNvPr id="13" name="object 13"/>
          <p:cNvSpPr txBox="1"/>
          <p:nvPr/>
        </p:nvSpPr>
        <p:spPr>
          <a:xfrm>
            <a:off x="1505222" y="4646316"/>
            <a:ext cx="8277225" cy="882650"/>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b="0" dirty="0" spc="-5" sz="1750">
                <a:solidFill>
                  <a:srgbClr val="166533"/>
                </a:solidFill>
                <a:latin typeface="Noto Sans JP"/>
                <a:ea typeface="Noto Sans JP"/>
                <a:cs typeface="Noto Sans JP"/>
              </a:rPr>
              <a:t>科学的根拠に基づいた効果</a:t>
            </a:r>
            <a:endParaRPr sz="1750">
              <a:latin typeface="Noto Sans JP Thin"/>
              <a:cs typeface="Noto Sans JP Thin"/>
            </a:endParaRPr>
          </a:p>
          <a:p>
            <a:pPr marL="12700" marR="5080">
              <a:lnSpc>
                <a:spcPct val="132200"/>
              </a:lnSpc>
              <a:spcBef>
                <a:spcPts val="500"/>
              </a:spcBef>
              <a:defRPr>
                <a:latin typeface="Noto Sans JP"/>
                <a:ea typeface="Noto Sans JP"/>
                <a:cs typeface="Noto Sans JP"/>
              </a:defRPr>
            </a:pPr>
            <a:r>
              <a:rPr b="0" dirty="0" spc="10" sz="1300">
                <a:solidFill>
                  <a:srgbClr val="374050"/>
                </a:solidFill>
                <a:latin typeface="Noto Sans JP"/>
                <a:ea typeface="Noto Sans JP"/>
                <a:cs typeface="Noto Sans JP"/>
              </a:rPr>
              <a:t>マインドフルネスは単なる「気持ちの問題」ではなく、生理学的‧神経科学的な変化を伴う実証された手法です</a:t>
            </a:r>
            <a:endParaRPr sz="1300">
              <a:latin typeface="Noto Sans JP Thin"/>
              <a:cs typeface="Noto Sans JP Thin"/>
            </a:endParaRPr>
          </a:p>
        </p:txBody>
      </p:sp>
      <p:sp>
        <p:nvSpPr>
          <p:cNvPr id="14" name="object 14"/>
          <p:cNvSpPr txBox="1"/>
          <p:nvPr/>
        </p:nvSpPr>
        <p:spPr>
          <a:xfrm>
            <a:off x="10101423" y="4213626"/>
            <a:ext cx="675640" cy="1414780"/>
          </a:xfrm>
          <a:prstGeom prst="rect">
            <a:avLst/>
          </a:prstGeom>
        </p:spPr>
        <p:txBody>
          <a:bodyPr bIns="0" lIns="0" rIns="0" rtlCol="0" tIns="260350" vert="horz" wrap="square">
            <a:spAutoFit/>
          </a:bodyPr>
          <a:lstStyle/>
          <a:p>
            <a:pPr marL="100965">
              <a:lnSpc>
                <a:spcPct val="100000"/>
              </a:lnSpc>
              <a:spcBef>
                <a:spcPts val="2050"/>
              </a:spcBef>
              <a:defRPr>
                <a:latin typeface="Noto Sans JP"/>
                <a:ea typeface="Noto Sans JP"/>
                <a:cs typeface="Noto Sans JP"/>
              </a:defRPr>
            </a:pPr>
            <a:r>
              <a:rPr dirty="0" spc="75" sz="4400">
                <a:solidFill>
                  <a:srgbClr val="21C45D"/>
                </a:solidFill>
                <a:latin typeface="Noto Sans JP"/>
                <a:ea typeface="Noto Sans JP"/>
                <a:cs typeface="Noto Sans JP"/>
              </a:rPr>
              <a:t></a:t>
            </a:r>
            <a:endParaRPr sz="4400">
              <a:latin typeface="Arial"/>
              <a:cs typeface="Arial"/>
            </a:endParaRPr>
          </a:p>
          <a:p>
            <a:pPr marL="12700">
              <a:lnSpc>
                <a:spcPct val="100000"/>
              </a:lnSpc>
              <a:spcBef>
                <a:spcPts val="550"/>
              </a:spcBef>
              <a:defRPr>
                <a:latin typeface="Noto Sans JP"/>
                <a:ea typeface="Noto Sans JP"/>
                <a:cs typeface="Noto Sans JP"/>
              </a:defRPr>
            </a:pPr>
            <a:r>
              <a:rPr b="0" dirty="0" spc="-15" sz="1150">
                <a:solidFill>
                  <a:srgbClr val="15803C"/>
                </a:solidFill>
                <a:latin typeface="Noto Sans JP"/>
                <a:ea typeface="Noto Sans JP"/>
                <a:cs typeface="Noto Sans JP"/>
              </a:rPr>
              <a:t>科学的実</a:t>
            </a:r>
            <a:endParaRPr sz="1150">
              <a:latin typeface="Noto Sans JP Thin"/>
              <a:cs typeface="Noto Sans JP Thin"/>
            </a:endParaRPr>
          </a:p>
          <a:p>
            <a:pPr marL="12700">
              <a:lnSpc>
                <a:spcPct val="100000"/>
              </a:lnSpc>
              <a:spcBef>
                <a:spcPts val="390"/>
              </a:spcBef>
              <a:defRPr>
                <a:latin typeface="Noto Sans JP"/>
                <a:ea typeface="Noto Sans JP"/>
                <a:cs typeface="Noto Sans JP"/>
              </a:defRPr>
            </a:pPr>
            <a:r>
              <a:rPr b="0" dirty="0" spc="-50" sz="1150">
                <a:solidFill>
                  <a:srgbClr val="15803C"/>
                </a:solidFill>
                <a:latin typeface="Noto Sans JP"/>
                <a:ea typeface="Noto Sans JP"/>
                <a:cs typeface="Noto Sans JP"/>
              </a:rPr>
              <a:t>証</a:t>
            </a:r>
            <a:endParaRPr sz="1150">
              <a:latin typeface="Noto Sans JP Thin"/>
              <a:cs typeface="Noto Sans JP Thin"/>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descr="$PPTXTitle" id="2" name="object 2"/>
          <p:cNvSpPr txBox="1">
            <a:spLocks noGrp="1"/>
          </p:cNvSpPr>
          <p:nvPr>
            <p:ph type="title"/>
          </p:nvPr>
        </p:nvSpPr>
        <p:spPr>
          <a:prstGeom prst="rect"/>
        </p:spPr>
        <p:txBody>
          <a:bodyPr bIns="0" lIns="0" rIns="0" rtlCol="0" tIns="17145" vert="horz" wrap="square">
            <a:spAutoFit/>
          </a:bodyPr>
          <a:lstStyle/>
          <a:p>
            <a:pPr marL="420370">
              <a:lnSpc>
                <a:spcPct val="100000"/>
              </a:lnSpc>
              <a:spcBef>
                <a:spcPts val="135"/>
              </a:spcBef>
              <a:defRPr>
                <a:latin typeface="Noto Sans JP"/>
                <a:ea typeface="Noto Sans JP"/>
                <a:cs typeface="Noto Sans JP"/>
              </a:defRPr>
            </a:pPr>
            <a:r>
              <a:rPr b="0" baseline="3174" dirty="0" spc="892" sz="5250">
                <a:solidFill>
                  <a:srgbClr val="16A24A"/>
                </a:solidFill>
                <a:latin typeface="Noto Sans JP"/>
                <a:ea typeface="Noto Sans JP"/>
                <a:cs typeface="Noto Sans JP"/>
              </a:rPr>
              <a:t></a:t>
            </a:r>
            <a:r>
              <a:rPr b="0" baseline="3174" dirty="0" spc="509" sz="5250">
                <a:solidFill>
                  <a:srgbClr val="16A24A"/>
                </a:solidFill>
                <a:latin typeface="Noto Sans JP"/>
                <a:ea typeface="Noto Sans JP"/>
                <a:cs typeface="Noto Sans JP"/>
              </a:rPr>
              <a:t> </a:t>
            </a:r>
            <a:r>
              <a:rPr dirty="0" spc="15" sz="3500">
                <a:latin typeface="Noto Sans JP"/>
                <a:ea typeface="Noto Sans JP"/>
                <a:cs typeface="Noto Sans JP"/>
              </a:rPr>
              <a:t>看護師にとっての意義 </a:t>
            </a:r>
            <a:r>
              <a:rPr b="0" baseline="3174" dirty="0" spc="-1530" sz="5250">
                <a:solidFill>
                  <a:srgbClr val="21C45D"/>
                </a:solidFill>
                <a:latin typeface="Noto Sans JP"/>
                <a:ea typeface="Noto Sans JP"/>
                <a:cs typeface="Noto Sans JP"/>
              </a:rPr>
              <a:t></a:t>
            </a:r>
            <a:endParaRPr baseline="3174" sz="5250">
              <a:latin typeface="Arial"/>
              <a:cs typeface="Arial"/>
            </a:endParaRPr>
          </a:p>
        </p:txBody>
      </p:sp>
      <p:pic>
        <p:nvPicPr>
          <p:cNvPr id="3" name="object 3"/>
          <p:cNvPicPr/>
          <p:nvPr/>
        </p:nvPicPr>
        <p:blipFill>
          <a:blip cstate="print" r:embed="rId2"/>
          <a:stretch>
            <a:fillRect/>
          </a:stretch>
        </p:blipFill>
        <p:spPr>
          <a:xfrm>
            <a:off x="722375" y="996695"/>
            <a:ext cx="10521695" cy="5678423"/>
          </a:xfrm>
          <a:prstGeom prst="rect">
            <a:avLst/>
          </a:prstGeom>
        </p:spPr>
      </p:pic>
      <p:sp>
        <p:nvSpPr>
          <p:cNvPr id="4" name="object 4"/>
          <p:cNvSpPr txBox="1"/>
          <p:nvPr/>
        </p:nvSpPr>
        <p:spPr>
          <a:xfrm>
            <a:off x="1392040" y="1640423"/>
            <a:ext cx="298450" cy="353060"/>
          </a:xfrm>
          <a:prstGeom prst="rect">
            <a:avLst/>
          </a:prstGeom>
        </p:spPr>
        <p:txBody>
          <a:bodyPr bIns="0" lIns="0" rIns="0" rtlCol="0" tIns="12065" vert="horz" wrap="square">
            <a:spAutoFit/>
          </a:bodyPr>
          <a:lstStyle/>
          <a:p>
            <a:pPr marL="12700">
              <a:lnSpc>
                <a:spcPct val="100000"/>
              </a:lnSpc>
              <a:spcBef>
                <a:spcPts val="95"/>
              </a:spcBef>
              <a:defRPr>
                <a:latin typeface="Noto Sans JP"/>
                <a:ea typeface="Noto Sans JP"/>
                <a:cs typeface="Noto Sans JP"/>
              </a:defRPr>
            </a:pPr>
            <a:r>
              <a:rPr dirty="0" spc="50" sz="2150">
                <a:solidFill>
                  <a:srgbClr val="16A24A"/>
                </a:solidFill>
                <a:latin typeface="Noto Sans JP"/>
                <a:ea typeface="Noto Sans JP"/>
                <a:cs typeface="Noto Sans JP"/>
              </a:rPr>
              <a:t></a:t>
            </a:r>
            <a:endParaRPr sz="2150">
              <a:latin typeface="Arial"/>
              <a:cs typeface="Arial"/>
            </a:endParaRPr>
          </a:p>
        </p:txBody>
      </p:sp>
      <p:sp>
        <p:nvSpPr>
          <p:cNvPr id="5" name="object 5"/>
          <p:cNvSpPr txBox="1"/>
          <p:nvPr/>
        </p:nvSpPr>
        <p:spPr>
          <a:xfrm>
            <a:off x="2183094" y="1370465"/>
            <a:ext cx="8593455" cy="911225"/>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b="0" dirty="0" spc="-5" sz="1750">
                <a:solidFill>
                  <a:srgbClr val="166533"/>
                </a:solidFill>
                <a:latin typeface="Noto Sans JP"/>
                <a:ea typeface="Noto Sans JP"/>
                <a:cs typeface="Noto Sans JP"/>
              </a:rPr>
              <a:t>共感疲労や燃え尽き症候群への対策</a:t>
            </a:r>
            <a:endParaRPr sz="1750">
              <a:latin typeface="Noto Sans JP Thin"/>
              <a:cs typeface="Noto Sans JP Thin"/>
            </a:endParaRPr>
          </a:p>
          <a:p>
            <a:pPr marL="12700">
              <a:lnSpc>
                <a:spcPct val="100000"/>
              </a:lnSpc>
              <a:spcBef>
                <a:spcPts val="1215"/>
              </a:spcBef>
              <a:defRPr>
                <a:latin typeface="Noto Sans JP"/>
                <a:ea typeface="Noto Sans JP"/>
                <a:cs typeface="Noto Sans JP"/>
              </a:defRPr>
            </a:pPr>
            <a:r>
              <a:rPr b="0" dirty="0" spc="-20" sz="1300">
                <a:solidFill>
                  <a:srgbClr val="374050"/>
                </a:solidFill>
                <a:latin typeface="Noto Sans JP"/>
                <a:ea typeface="Noto Sans JP"/>
                <a:cs typeface="Noto Sans JP"/>
              </a:rPr>
              <a:t>患者さんの苦痛に共感し続けることで生じる心の疲労や、仕事への情熱を失うバーンアウトを予防し、心の健康を</a:t>
            </a:r>
            <a:endParaRPr sz="1300">
              <a:latin typeface="Noto Sans JP Thin"/>
              <a:cs typeface="Noto Sans JP Thin"/>
            </a:endParaRPr>
          </a:p>
          <a:p>
            <a:pPr marL="12700">
              <a:lnSpc>
                <a:spcPct val="100000"/>
              </a:lnSpc>
              <a:spcBef>
                <a:spcPts val="515"/>
              </a:spcBef>
              <a:defRPr>
                <a:latin typeface="Noto Sans JP"/>
                <a:ea typeface="Noto Sans JP"/>
                <a:cs typeface="Noto Sans JP"/>
              </a:defRPr>
            </a:pPr>
            <a:r>
              <a:rPr b="0" dirty="0" spc="-10" sz="1300">
                <a:solidFill>
                  <a:srgbClr val="374050"/>
                </a:solidFill>
                <a:latin typeface="Noto Sans JP"/>
                <a:ea typeface="Noto Sans JP"/>
                <a:cs typeface="Noto Sans JP"/>
              </a:rPr>
              <a:t>保つことができます</a:t>
            </a:r>
            <a:endParaRPr sz="1300">
              <a:latin typeface="Noto Sans JP Thin"/>
              <a:cs typeface="Noto Sans JP Thin"/>
            </a:endParaRPr>
          </a:p>
        </p:txBody>
      </p:sp>
      <p:sp>
        <p:nvSpPr>
          <p:cNvPr id="6" name="object 6"/>
          <p:cNvSpPr txBox="1"/>
          <p:nvPr/>
        </p:nvSpPr>
        <p:spPr>
          <a:xfrm>
            <a:off x="2183094" y="3107147"/>
            <a:ext cx="8596630" cy="902335"/>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b="0" dirty="0" spc="-5" sz="1750">
                <a:solidFill>
                  <a:srgbClr val="166533"/>
                </a:solidFill>
                <a:latin typeface="Noto Sans JP"/>
                <a:ea typeface="Noto Sans JP"/>
                <a:cs typeface="Noto Sans JP"/>
              </a:rPr>
              <a:t>感情に巻き込まれすぎずに寄り添う力</a:t>
            </a:r>
            <a:endParaRPr sz="1750">
              <a:latin typeface="Noto Sans JP Thin"/>
              <a:cs typeface="Noto Sans JP Thin"/>
            </a:endParaRPr>
          </a:p>
          <a:p>
            <a:pPr marL="12700">
              <a:lnSpc>
                <a:spcPct val="100000"/>
              </a:lnSpc>
              <a:spcBef>
                <a:spcPts val="1145"/>
              </a:spcBef>
              <a:defRPr>
                <a:latin typeface="Noto Sans JP"/>
                <a:ea typeface="Noto Sans JP"/>
                <a:cs typeface="Noto Sans JP"/>
              </a:defRPr>
            </a:pPr>
            <a:r>
              <a:rPr b="0" dirty="0" spc="-20" sz="1300">
                <a:solidFill>
                  <a:srgbClr val="374050"/>
                </a:solidFill>
                <a:latin typeface="Noto Sans JP"/>
                <a:ea typeface="Noto Sans JP"/>
                <a:cs typeface="Noto Sans JP"/>
              </a:rPr>
              <a:t>患者さんやご家族の感情的な状況に適切な距離感を保ちながら、温かく寄り添うことで、より質の高いケアを提供</a:t>
            </a:r>
            <a:endParaRPr sz="1300">
              <a:latin typeface="Noto Sans JP Thin"/>
              <a:cs typeface="Noto Sans JP Thin"/>
            </a:endParaRPr>
          </a:p>
          <a:p>
            <a:pPr marL="12700">
              <a:lnSpc>
                <a:spcPct val="100000"/>
              </a:lnSpc>
              <a:spcBef>
                <a:spcPts val="515"/>
              </a:spcBef>
              <a:defRPr>
                <a:latin typeface="Noto Sans JP"/>
                <a:ea typeface="Noto Sans JP"/>
                <a:cs typeface="Noto Sans JP"/>
              </a:defRPr>
            </a:pPr>
            <a:r>
              <a:rPr b="0" dirty="0" spc="-15" sz="1300">
                <a:solidFill>
                  <a:srgbClr val="374050"/>
                </a:solidFill>
                <a:latin typeface="Noto Sans JP"/>
                <a:ea typeface="Noto Sans JP"/>
                <a:cs typeface="Noto Sans JP"/>
              </a:rPr>
              <a:t>できます</a:t>
            </a:r>
            <a:endParaRPr sz="1300">
              <a:latin typeface="Noto Sans JP Thin"/>
              <a:cs typeface="Noto Sans JP Thin"/>
            </a:endParaRPr>
          </a:p>
        </p:txBody>
      </p:sp>
      <p:sp>
        <p:nvSpPr>
          <p:cNvPr id="7" name="object 7"/>
          <p:cNvSpPr txBox="1"/>
          <p:nvPr/>
        </p:nvSpPr>
        <p:spPr>
          <a:xfrm>
            <a:off x="1357943" y="5004677"/>
            <a:ext cx="366395" cy="353060"/>
          </a:xfrm>
          <a:prstGeom prst="rect">
            <a:avLst/>
          </a:prstGeom>
        </p:spPr>
        <p:txBody>
          <a:bodyPr bIns="0" lIns="0" rIns="0" rtlCol="0" tIns="12065" vert="horz" wrap="square">
            <a:spAutoFit/>
          </a:bodyPr>
          <a:lstStyle/>
          <a:p>
            <a:pPr marL="12700">
              <a:lnSpc>
                <a:spcPct val="100000"/>
              </a:lnSpc>
              <a:spcBef>
                <a:spcPts val="95"/>
              </a:spcBef>
              <a:defRPr>
                <a:latin typeface="Noto Sans JP"/>
                <a:ea typeface="Noto Sans JP"/>
                <a:cs typeface="Noto Sans JP"/>
              </a:defRPr>
            </a:pPr>
            <a:r>
              <a:rPr dirty="0" spc="1085" sz="2150">
                <a:solidFill>
                  <a:srgbClr val="16A24A"/>
                </a:solidFill>
                <a:latin typeface="Noto Sans JP"/>
                <a:ea typeface="Noto Sans JP"/>
                <a:cs typeface="Noto Sans JP"/>
              </a:rPr>
              <a:t>∞</a:t>
            </a:r>
            <a:endParaRPr sz="2150">
              <a:latin typeface="Arial"/>
              <a:cs typeface="Arial"/>
            </a:endParaRPr>
          </a:p>
        </p:txBody>
      </p:sp>
      <p:sp>
        <p:nvSpPr>
          <p:cNvPr id="8" name="object 8"/>
          <p:cNvSpPr txBox="1"/>
          <p:nvPr/>
        </p:nvSpPr>
        <p:spPr>
          <a:xfrm>
            <a:off x="2183094" y="4862014"/>
            <a:ext cx="8237855" cy="647700"/>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b="0" dirty="0" spc="-5" sz="1750">
                <a:solidFill>
                  <a:srgbClr val="166533"/>
                </a:solidFill>
                <a:latin typeface="Noto Sans JP"/>
                <a:ea typeface="Noto Sans JP"/>
                <a:cs typeface="Noto Sans JP"/>
              </a:rPr>
              <a:t>ケアの質を安定させ、持続可能にする</a:t>
            </a:r>
            <a:endParaRPr sz="1750">
              <a:latin typeface="Noto Sans JP Thin"/>
              <a:cs typeface="Noto Sans JP Thin"/>
            </a:endParaRPr>
          </a:p>
          <a:p>
            <a:pPr marL="12700">
              <a:lnSpc>
                <a:spcPct val="100000"/>
              </a:lnSpc>
              <a:spcBef>
                <a:spcPts val="1215"/>
              </a:spcBef>
              <a:defRPr>
                <a:latin typeface="Noto Sans JP"/>
                <a:ea typeface="Noto Sans JP"/>
                <a:cs typeface="Noto Sans JP"/>
              </a:defRPr>
            </a:pPr>
            <a:r>
              <a:rPr b="0" dirty="0" spc="-40" sz="1300">
                <a:solidFill>
                  <a:srgbClr val="374050"/>
                </a:solidFill>
                <a:latin typeface="Noto Sans JP"/>
                <a:ea typeface="Noto Sans JP"/>
                <a:cs typeface="Noto Sans JP"/>
              </a:rPr>
              <a:t>心の安定によってケアの質にムラがなくなり、長期にわたって一貫した看護を提供することが可能になります</a:t>
            </a:r>
            <a:endParaRPr sz="1300">
              <a:latin typeface="Noto Sans JP Thin"/>
              <a:cs typeface="Noto Sans JP Thin"/>
            </a:endParaRPr>
          </a:p>
        </p:txBody>
      </p:sp>
      <p:sp>
        <p:nvSpPr>
          <p:cNvPr id="9" name="object 9"/>
          <p:cNvSpPr txBox="1"/>
          <p:nvPr/>
        </p:nvSpPr>
        <p:spPr>
          <a:xfrm>
            <a:off x="2215486" y="6059415"/>
            <a:ext cx="7538084" cy="287655"/>
          </a:xfrm>
          <a:prstGeom prst="rect">
            <a:avLst/>
          </a:prstGeom>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dirty="0" sz="1700">
                <a:solidFill>
                  <a:srgbClr val="15803C"/>
                </a:solidFill>
                <a:latin typeface="Noto Sans JP"/>
                <a:ea typeface="Noto Sans JP"/>
                <a:cs typeface="Noto Sans JP"/>
                <a:sym typeface="Noto Sans JP"/>
              </a:rPr>
              <a:t></a:t>
            </a:r>
            <a:r>
              <a:rPr dirty="0" spc="130" sz="1700">
                <a:solidFill>
                  <a:srgbClr val="15803C"/>
                </a:solidFill>
                <a:latin typeface="Noto Sans JP"/>
                <a:ea typeface="Noto Sans JP"/>
                <a:cs typeface="Noto Sans JP"/>
              </a:rPr>
              <a:t>  </a:t>
            </a:r>
            <a:r>
              <a:rPr b="0" baseline="2136" dirty="0" spc="-7" sz="1950">
                <a:solidFill>
                  <a:srgbClr val="166533"/>
                </a:solidFill>
                <a:latin typeface="Noto Sans JP"/>
                <a:ea typeface="Noto Sans JP"/>
                <a:cs typeface="Noto Sans JP"/>
              </a:rPr>
              <a:t>マインドフルネスは看護師の心の健康とケアの質向上を同時に実現する実践的なアプローチです</a:t>
            </a:r>
            <a:endParaRPr baseline="2136" sz="1950">
              <a:latin typeface="Noto Sans JP Thin"/>
              <a:cs typeface="Noto Sans JP Thin"/>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object 2"/>
          <p:cNvGrpSpPr/>
          <p:nvPr/>
        </p:nvGrpSpPr>
        <p:grpSpPr>
          <a:xfrm>
            <a:off x="728471" y="5190744"/>
            <a:ext cx="10525125" cy="1469390"/>
            <a:chOff x="728471" y="5190744"/>
            <a:chExt cx="10525125" cy="1469390"/>
          </a:xfrm>
        </p:grpSpPr>
        <p:sp>
          <p:nvSpPr>
            <p:cNvPr id="3" name="object 3"/>
            <p:cNvSpPr/>
            <p:nvPr/>
          </p:nvSpPr>
          <p:spPr>
            <a:xfrm>
              <a:off x="728459" y="5190756"/>
              <a:ext cx="10525125" cy="1469390"/>
            </a:xfrm>
            <a:custGeom>
              <a:avLst/>
              <a:gdLst/>
              <a:ahLst/>
              <a:cxnLst/>
              <a:rect b="b" l="l" r="r" t="t"/>
              <a:pathLst>
                <a:path h="1469390" w="10525125">
                  <a:moveTo>
                    <a:pt x="10524744" y="0"/>
                  </a:moveTo>
                  <a:lnTo>
                    <a:pt x="10462196" y="0"/>
                  </a:lnTo>
                  <a:lnTo>
                    <a:pt x="10462196" y="119062"/>
                  </a:lnTo>
                  <a:lnTo>
                    <a:pt x="10462196" y="1289646"/>
                  </a:lnTo>
                  <a:lnTo>
                    <a:pt x="10452240" y="1329359"/>
                  </a:lnTo>
                  <a:lnTo>
                    <a:pt x="10424795" y="1359636"/>
                  </a:lnTo>
                  <a:lnTo>
                    <a:pt x="10386327" y="1373403"/>
                  </a:lnTo>
                  <a:lnTo>
                    <a:pt x="10378034" y="1373809"/>
                  </a:lnTo>
                  <a:lnTo>
                    <a:pt x="148755" y="1373809"/>
                  </a:lnTo>
                  <a:lnTo>
                    <a:pt x="109042" y="1363853"/>
                  </a:lnTo>
                  <a:lnTo>
                    <a:pt x="78765" y="1336408"/>
                  </a:lnTo>
                  <a:lnTo>
                    <a:pt x="64998" y="1297940"/>
                  </a:lnTo>
                  <a:lnTo>
                    <a:pt x="64592" y="1289646"/>
                  </a:lnTo>
                  <a:lnTo>
                    <a:pt x="64592" y="119062"/>
                  </a:lnTo>
                  <a:lnTo>
                    <a:pt x="74549" y="79349"/>
                  </a:lnTo>
                  <a:lnTo>
                    <a:pt x="101993" y="49072"/>
                  </a:lnTo>
                  <a:lnTo>
                    <a:pt x="140462" y="35293"/>
                  </a:lnTo>
                  <a:lnTo>
                    <a:pt x="148755" y="34899"/>
                  </a:lnTo>
                  <a:lnTo>
                    <a:pt x="10378034" y="34899"/>
                  </a:lnTo>
                  <a:lnTo>
                    <a:pt x="10417746" y="44843"/>
                  </a:lnTo>
                  <a:lnTo>
                    <a:pt x="10448023" y="72288"/>
                  </a:lnTo>
                  <a:lnTo>
                    <a:pt x="10461790" y="110769"/>
                  </a:lnTo>
                  <a:lnTo>
                    <a:pt x="10462196" y="119062"/>
                  </a:lnTo>
                  <a:lnTo>
                    <a:pt x="10462196" y="0"/>
                  </a:lnTo>
                  <a:lnTo>
                    <a:pt x="0" y="0"/>
                  </a:lnTo>
                  <a:lnTo>
                    <a:pt x="0" y="1469136"/>
                  </a:lnTo>
                  <a:lnTo>
                    <a:pt x="10524744" y="1469136"/>
                  </a:lnTo>
                  <a:lnTo>
                    <a:pt x="10524744" y="1373809"/>
                  </a:lnTo>
                  <a:lnTo>
                    <a:pt x="10524744" y="34899"/>
                  </a:lnTo>
                  <a:lnTo>
                    <a:pt x="10524744"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4" name="object 4"/>
            <p:cNvSpPr/>
            <p:nvPr/>
          </p:nvSpPr>
          <p:spPr>
            <a:xfrm>
              <a:off x="785411" y="5217995"/>
              <a:ext cx="10413365" cy="1354455"/>
            </a:xfrm>
            <a:custGeom>
              <a:avLst/>
              <a:gdLst/>
              <a:ahLst/>
              <a:cxnLst/>
              <a:rect b="b" l="l" r="r" t="t"/>
              <a:pathLst>
                <a:path h="1354454" w="10413365">
                  <a:moveTo>
                    <a:pt x="10327117" y="1354212"/>
                  </a:moveTo>
                  <a:lnTo>
                    <a:pt x="85782" y="1354212"/>
                  </a:lnTo>
                  <a:lnTo>
                    <a:pt x="79812" y="1353624"/>
                  </a:lnTo>
                  <a:lnTo>
                    <a:pt x="35791" y="1335389"/>
                  </a:lnTo>
                  <a:lnTo>
                    <a:pt x="9295" y="1303105"/>
                  </a:lnTo>
                  <a:lnTo>
                    <a:pt x="0" y="1268429"/>
                  </a:lnTo>
                  <a:lnTo>
                    <a:pt x="0" y="1262401"/>
                  </a:lnTo>
                  <a:lnTo>
                    <a:pt x="0" y="85782"/>
                  </a:lnTo>
                  <a:lnTo>
                    <a:pt x="12123" y="45815"/>
                  </a:lnTo>
                  <a:lnTo>
                    <a:pt x="45815" y="12123"/>
                  </a:lnTo>
                  <a:lnTo>
                    <a:pt x="85782" y="0"/>
                  </a:lnTo>
                  <a:lnTo>
                    <a:pt x="10327117" y="0"/>
                  </a:lnTo>
                  <a:lnTo>
                    <a:pt x="10367083" y="12123"/>
                  </a:lnTo>
                  <a:lnTo>
                    <a:pt x="10400776" y="45815"/>
                  </a:lnTo>
                  <a:lnTo>
                    <a:pt x="10412900" y="85782"/>
                  </a:lnTo>
                  <a:lnTo>
                    <a:pt x="10412900" y="1268429"/>
                  </a:lnTo>
                  <a:lnTo>
                    <a:pt x="10400776" y="1308395"/>
                  </a:lnTo>
                  <a:lnTo>
                    <a:pt x="10367083" y="1342088"/>
                  </a:lnTo>
                  <a:lnTo>
                    <a:pt x="10333087" y="1353624"/>
                  </a:lnTo>
                  <a:lnTo>
                    <a:pt x="10327117" y="1354212"/>
                  </a:lnTo>
                  <a:close/>
                </a:path>
              </a:pathLst>
            </a:custGeom>
            <a:solidFill>
              <a:srgbClr val="DBFBE7"/>
            </a:solidFill>
          </p:spPr>
          <p:txBody>
            <a:bodyPr bIns="0" lIns="0" rIns="0" rtlCol="0" tIns="0" wrap="square"/>
            <a:lstStyle/>
            <a:p>
              <a:pPr>
                <a:defRPr>
                  <a:latin typeface="Noto Sans JP"/>
                  <a:ea typeface="Noto Sans JP"/>
                  <a:cs typeface="Noto Sans JP"/>
                </a:defRPr>
              </a:pPr>
            </a:p>
          </p:txBody>
        </p:sp>
      </p:grpSp>
      <p:grpSp>
        <p:nvGrpSpPr>
          <p:cNvPr id="5" name="object 5"/>
          <p:cNvGrpSpPr/>
          <p:nvPr/>
        </p:nvGrpSpPr>
        <p:grpSpPr>
          <a:xfrm>
            <a:off x="649223" y="1011936"/>
            <a:ext cx="3624579" cy="4234180"/>
            <a:chOff x="649223" y="1011936"/>
            <a:chExt cx="3624579" cy="4234180"/>
          </a:xfrm>
        </p:grpSpPr>
        <p:sp>
          <p:nvSpPr>
            <p:cNvPr id="6" name="object 6"/>
            <p:cNvSpPr/>
            <p:nvPr/>
          </p:nvSpPr>
          <p:spPr>
            <a:xfrm>
              <a:off x="649211" y="1011948"/>
              <a:ext cx="3624579" cy="4234180"/>
            </a:xfrm>
            <a:custGeom>
              <a:avLst/>
              <a:gdLst/>
              <a:ahLst/>
              <a:cxnLst/>
              <a:rect b="b" l="l" r="r" t="t"/>
              <a:pathLst>
                <a:path h="4234180" w="3624579">
                  <a:moveTo>
                    <a:pt x="3624072" y="0"/>
                  </a:moveTo>
                  <a:lnTo>
                    <a:pt x="3479647" y="0"/>
                  </a:lnTo>
                  <a:lnTo>
                    <a:pt x="3479647" y="151066"/>
                  </a:lnTo>
                  <a:lnTo>
                    <a:pt x="3479647" y="3930624"/>
                  </a:lnTo>
                  <a:lnTo>
                    <a:pt x="3469690" y="3970337"/>
                  </a:lnTo>
                  <a:lnTo>
                    <a:pt x="3442246" y="4000614"/>
                  </a:lnTo>
                  <a:lnTo>
                    <a:pt x="3403777" y="4014381"/>
                  </a:lnTo>
                  <a:lnTo>
                    <a:pt x="3395484" y="4014787"/>
                  </a:lnTo>
                  <a:lnTo>
                    <a:pt x="228003" y="4014787"/>
                  </a:lnTo>
                  <a:lnTo>
                    <a:pt x="188290" y="4004830"/>
                  </a:lnTo>
                  <a:lnTo>
                    <a:pt x="158013" y="3977386"/>
                  </a:lnTo>
                  <a:lnTo>
                    <a:pt x="144246" y="3938917"/>
                  </a:lnTo>
                  <a:lnTo>
                    <a:pt x="143840" y="3930624"/>
                  </a:lnTo>
                  <a:lnTo>
                    <a:pt x="143840" y="151066"/>
                  </a:lnTo>
                  <a:lnTo>
                    <a:pt x="153797" y="111353"/>
                  </a:lnTo>
                  <a:lnTo>
                    <a:pt x="181241" y="81076"/>
                  </a:lnTo>
                  <a:lnTo>
                    <a:pt x="219710" y="67310"/>
                  </a:lnTo>
                  <a:lnTo>
                    <a:pt x="228003" y="66903"/>
                  </a:lnTo>
                  <a:lnTo>
                    <a:pt x="3395484" y="66903"/>
                  </a:lnTo>
                  <a:lnTo>
                    <a:pt x="3435197" y="76860"/>
                  </a:lnTo>
                  <a:lnTo>
                    <a:pt x="3465474" y="104305"/>
                  </a:lnTo>
                  <a:lnTo>
                    <a:pt x="3479241" y="142773"/>
                  </a:lnTo>
                  <a:lnTo>
                    <a:pt x="3479647" y="151066"/>
                  </a:lnTo>
                  <a:lnTo>
                    <a:pt x="3479647" y="0"/>
                  </a:lnTo>
                  <a:lnTo>
                    <a:pt x="0" y="0"/>
                  </a:lnTo>
                  <a:lnTo>
                    <a:pt x="0" y="4233672"/>
                  </a:lnTo>
                  <a:lnTo>
                    <a:pt x="3624072" y="4233672"/>
                  </a:lnTo>
                  <a:lnTo>
                    <a:pt x="3624072" y="4014787"/>
                  </a:lnTo>
                  <a:lnTo>
                    <a:pt x="3624072" y="66903"/>
                  </a:lnTo>
                  <a:lnTo>
                    <a:pt x="3624072"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7" name="object 7"/>
            <p:cNvSpPr/>
            <p:nvPr/>
          </p:nvSpPr>
          <p:spPr>
            <a:xfrm>
              <a:off x="785411" y="1071197"/>
              <a:ext cx="3351529" cy="3963670"/>
            </a:xfrm>
            <a:custGeom>
              <a:avLst/>
              <a:gdLst/>
              <a:ahLst/>
              <a:cxnLst/>
              <a:rect b="b" l="l" r="r" t="t"/>
              <a:pathLst>
                <a:path h="3963670" w="3351529">
                  <a:moveTo>
                    <a:pt x="3265319" y="3963176"/>
                  </a:moveTo>
                  <a:lnTo>
                    <a:pt x="85782" y="3963176"/>
                  </a:lnTo>
                  <a:lnTo>
                    <a:pt x="79812" y="3962587"/>
                  </a:lnTo>
                  <a:lnTo>
                    <a:pt x="35791" y="3944353"/>
                  </a:lnTo>
                  <a:lnTo>
                    <a:pt x="9295" y="3912068"/>
                  </a:lnTo>
                  <a:lnTo>
                    <a:pt x="0" y="3877393"/>
                  </a:lnTo>
                  <a:lnTo>
                    <a:pt x="0" y="3871365"/>
                  </a:lnTo>
                  <a:lnTo>
                    <a:pt x="0" y="85782"/>
                  </a:lnTo>
                  <a:lnTo>
                    <a:pt x="12123" y="45815"/>
                  </a:lnTo>
                  <a:lnTo>
                    <a:pt x="45815" y="12123"/>
                  </a:lnTo>
                  <a:lnTo>
                    <a:pt x="85782" y="0"/>
                  </a:lnTo>
                  <a:lnTo>
                    <a:pt x="3265319" y="0"/>
                  </a:lnTo>
                  <a:lnTo>
                    <a:pt x="3305286" y="12123"/>
                  </a:lnTo>
                  <a:lnTo>
                    <a:pt x="3338978" y="45815"/>
                  </a:lnTo>
                  <a:lnTo>
                    <a:pt x="3351102" y="85782"/>
                  </a:lnTo>
                  <a:lnTo>
                    <a:pt x="3351102" y="3877393"/>
                  </a:lnTo>
                  <a:lnTo>
                    <a:pt x="3338978" y="3917359"/>
                  </a:lnTo>
                  <a:lnTo>
                    <a:pt x="3305286" y="3951051"/>
                  </a:lnTo>
                  <a:lnTo>
                    <a:pt x="3271290" y="3962587"/>
                  </a:lnTo>
                  <a:lnTo>
                    <a:pt x="3265319" y="3963176"/>
                  </a:lnTo>
                  <a:close/>
                </a:path>
              </a:pathLst>
            </a:custGeom>
            <a:solidFill>
              <a:srgbClr val="FFFFFF"/>
            </a:solidFill>
          </p:spPr>
          <p:txBody>
            <a:bodyPr bIns="0" lIns="0" rIns="0" rtlCol="0" tIns="0" wrap="square"/>
            <a:lstStyle/>
            <a:p>
              <a:pPr>
                <a:defRPr>
                  <a:latin typeface="Noto Sans JP"/>
                  <a:ea typeface="Noto Sans JP"/>
                  <a:cs typeface="Noto Sans JP"/>
                </a:defRPr>
              </a:pPr>
            </a:p>
          </p:txBody>
        </p:sp>
        <p:sp>
          <p:nvSpPr>
            <p:cNvPr id="8" name="object 8"/>
            <p:cNvSpPr/>
            <p:nvPr/>
          </p:nvSpPr>
          <p:spPr>
            <a:xfrm>
              <a:off x="969033" y="2524872"/>
              <a:ext cx="2983865" cy="2326005"/>
            </a:xfrm>
            <a:custGeom>
              <a:avLst/>
              <a:gdLst/>
              <a:ahLst/>
              <a:cxnLst/>
              <a:rect b="b" l="l" r="r" t="t"/>
              <a:pathLst>
                <a:path h="2326004" w="2983865">
                  <a:moveTo>
                    <a:pt x="2926669" y="2325879"/>
                  </a:moveTo>
                  <a:lnTo>
                    <a:pt x="57188" y="2325879"/>
                  </a:lnTo>
                  <a:lnTo>
                    <a:pt x="53208" y="2325487"/>
                  </a:lnTo>
                  <a:lnTo>
                    <a:pt x="15085" y="2305109"/>
                  </a:lnTo>
                  <a:lnTo>
                    <a:pt x="0" y="2268690"/>
                  </a:lnTo>
                  <a:lnTo>
                    <a:pt x="0" y="2264672"/>
                  </a:lnTo>
                  <a:lnTo>
                    <a:pt x="0" y="57188"/>
                  </a:lnTo>
                  <a:lnTo>
                    <a:pt x="15085" y="20768"/>
                  </a:lnTo>
                  <a:lnTo>
                    <a:pt x="53208" y="392"/>
                  </a:lnTo>
                  <a:lnTo>
                    <a:pt x="57188" y="0"/>
                  </a:lnTo>
                  <a:lnTo>
                    <a:pt x="2926669" y="0"/>
                  </a:lnTo>
                  <a:lnTo>
                    <a:pt x="2963089" y="15085"/>
                  </a:lnTo>
                  <a:lnTo>
                    <a:pt x="2983465" y="53208"/>
                  </a:lnTo>
                  <a:lnTo>
                    <a:pt x="2983858" y="57188"/>
                  </a:lnTo>
                  <a:lnTo>
                    <a:pt x="2983858" y="2268690"/>
                  </a:lnTo>
                  <a:lnTo>
                    <a:pt x="2968772" y="2305109"/>
                  </a:lnTo>
                  <a:lnTo>
                    <a:pt x="2930650" y="2325487"/>
                  </a:lnTo>
                  <a:lnTo>
                    <a:pt x="2926669" y="2325879"/>
                  </a:lnTo>
                  <a:close/>
                </a:path>
              </a:pathLst>
            </a:custGeom>
            <a:solidFill>
              <a:srgbClr val="F0FDF4"/>
            </a:solidFill>
          </p:spPr>
          <p:txBody>
            <a:bodyPr bIns="0" lIns="0" rIns="0" rtlCol="0" tIns="0" wrap="square"/>
            <a:lstStyle/>
            <a:p>
              <a:pPr>
                <a:defRPr>
                  <a:latin typeface="Noto Sans JP"/>
                  <a:ea typeface="Noto Sans JP"/>
                  <a:cs typeface="Noto Sans JP"/>
                </a:defRPr>
              </a:pPr>
            </a:p>
          </p:txBody>
        </p:sp>
        <p:pic>
          <p:nvPicPr>
            <p:cNvPr id="9" name="object 9"/>
            <p:cNvPicPr/>
            <p:nvPr/>
          </p:nvPicPr>
          <p:blipFill>
            <a:blip cstate="print" r:embed="rId2"/>
            <a:stretch>
              <a:fillRect/>
            </a:stretch>
          </p:blipFill>
          <p:spPr>
            <a:xfrm>
              <a:off x="2229642" y="1252308"/>
              <a:ext cx="460375" cy="371475"/>
            </a:xfrm>
            <a:prstGeom prst="rect">
              <a:avLst/>
            </a:prstGeom>
          </p:spPr>
        </p:pic>
      </p:grpSp>
      <p:sp>
        <p:nvSpPr>
          <p:cNvPr id="10" name="object 10"/>
          <p:cNvSpPr txBox="1"/>
          <p:nvPr/>
        </p:nvSpPr>
        <p:spPr>
          <a:xfrm>
            <a:off x="1607379" y="1752130"/>
            <a:ext cx="1703705" cy="635635"/>
          </a:xfrm>
          <a:prstGeom prst="rect">
            <a:avLst/>
          </a:prstGeom>
        </p:spPr>
        <p:txBody>
          <a:bodyPr bIns="0" lIns="0" rIns="0" rtlCol="0" tIns="14604" vert="horz" wrap="square">
            <a:spAutoFit/>
          </a:bodyPr>
          <a:lstStyle/>
          <a:p>
            <a:pPr algn="ctr">
              <a:lnSpc>
                <a:spcPct val="100000"/>
              </a:lnSpc>
              <a:spcBef>
                <a:spcPts val="114"/>
              </a:spcBef>
              <a:defRPr>
                <a:latin typeface="Noto Sans JP"/>
                <a:ea typeface="Noto Sans JP"/>
                <a:cs typeface="Noto Sans JP"/>
              </a:defRPr>
            </a:pPr>
            <a:r>
              <a:rPr b="0" dirty="0" spc="55" sz="1750">
                <a:solidFill>
                  <a:srgbClr val="166533"/>
                </a:solidFill>
                <a:latin typeface="Noto Sans JP"/>
                <a:ea typeface="Noto Sans JP"/>
                <a:cs typeface="Noto Sans JP"/>
              </a:rPr>
              <a:t>1</a:t>
            </a:r>
            <a:r>
              <a:rPr b="0" dirty="0" spc="-10" sz="1750">
                <a:solidFill>
                  <a:srgbClr val="166533"/>
                </a:solidFill>
                <a:latin typeface="Noto Sans JP"/>
                <a:ea typeface="Noto Sans JP"/>
                <a:cs typeface="Noto Sans JP"/>
              </a:rPr>
              <a:t>分間呼吸法</a:t>
            </a:r>
            <a:endParaRPr sz="1750">
              <a:latin typeface="Noto Sans JP Thin"/>
              <a:cs typeface="Noto Sans JP Thin"/>
            </a:endParaRPr>
          </a:p>
          <a:p>
            <a:pPr algn="ctr">
              <a:lnSpc>
                <a:spcPct val="100000"/>
              </a:lnSpc>
              <a:spcBef>
                <a:spcPts val="1120"/>
              </a:spcBef>
              <a:defRPr>
                <a:latin typeface="Noto Sans JP"/>
                <a:ea typeface="Noto Sans JP"/>
                <a:cs typeface="Noto Sans JP"/>
              </a:defRPr>
            </a:pPr>
            <a:r>
              <a:rPr b="0" dirty="0" spc="-15" sz="1300">
                <a:solidFill>
                  <a:srgbClr val="374050"/>
                </a:solidFill>
                <a:latin typeface="Noto Sans JP"/>
                <a:ea typeface="Noto Sans JP"/>
                <a:cs typeface="Noto Sans JP"/>
              </a:rPr>
              <a:t>日常業務の中で使える</a:t>
            </a:r>
            <a:endParaRPr sz="1300">
              <a:latin typeface="Noto Sans JP Thin"/>
              <a:cs typeface="Noto Sans JP Thin"/>
            </a:endParaRPr>
          </a:p>
        </p:txBody>
      </p:sp>
      <p:grpSp>
        <p:nvGrpSpPr>
          <p:cNvPr id="11" name="object 11"/>
          <p:cNvGrpSpPr/>
          <p:nvPr/>
        </p:nvGrpSpPr>
        <p:grpSpPr>
          <a:xfrm>
            <a:off x="1420438" y="1011936"/>
            <a:ext cx="6379845" cy="4234180"/>
            <a:chOff x="1420438" y="1011936"/>
            <a:chExt cx="6379845" cy="4234180"/>
          </a:xfrm>
        </p:grpSpPr>
        <p:pic>
          <p:nvPicPr>
            <p:cNvPr descr="呼吸法のイラスト" id="12" name="object 12"/>
            <p:cNvPicPr/>
            <p:nvPr/>
          </p:nvPicPr>
          <p:blipFill>
            <a:blip cstate="print" r:embed="rId3"/>
            <a:stretch>
              <a:fillRect/>
            </a:stretch>
          </p:blipFill>
          <p:spPr>
            <a:xfrm>
              <a:off x="1420438" y="2647287"/>
              <a:ext cx="2081050" cy="2081049"/>
            </a:xfrm>
            <a:prstGeom prst="rect">
              <a:avLst/>
            </a:prstGeom>
          </p:spPr>
        </p:pic>
        <p:sp>
          <p:nvSpPr>
            <p:cNvPr id="13" name="object 13"/>
            <p:cNvSpPr/>
            <p:nvPr/>
          </p:nvSpPr>
          <p:spPr>
            <a:xfrm>
              <a:off x="4184891" y="1011948"/>
              <a:ext cx="3615054" cy="4234180"/>
            </a:xfrm>
            <a:custGeom>
              <a:avLst/>
              <a:gdLst/>
              <a:ahLst/>
              <a:cxnLst/>
              <a:rect b="b" l="l" r="r" t="t"/>
              <a:pathLst>
                <a:path h="4234180" w="3615054">
                  <a:moveTo>
                    <a:pt x="3614928" y="0"/>
                  </a:moveTo>
                  <a:lnTo>
                    <a:pt x="3471037" y="0"/>
                  </a:lnTo>
                  <a:lnTo>
                    <a:pt x="3471037" y="151066"/>
                  </a:lnTo>
                  <a:lnTo>
                    <a:pt x="3471037" y="3930624"/>
                  </a:lnTo>
                  <a:lnTo>
                    <a:pt x="3461093" y="3970337"/>
                  </a:lnTo>
                  <a:lnTo>
                    <a:pt x="3433648" y="4000614"/>
                  </a:lnTo>
                  <a:lnTo>
                    <a:pt x="3395167" y="4014381"/>
                  </a:lnTo>
                  <a:lnTo>
                    <a:pt x="3386874" y="4014787"/>
                  </a:lnTo>
                  <a:lnTo>
                    <a:pt x="227050" y="4014787"/>
                  </a:lnTo>
                  <a:lnTo>
                    <a:pt x="187337" y="4004830"/>
                  </a:lnTo>
                  <a:lnTo>
                    <a:pt x="157060" y="3977386"/>
                  </a:lnTo>
                  <a:lnTo>
                    <a:pt x="143294" y="3938917"/>
                  </a:lnTo>
                  <a:lnTo>
                    <a:pt x="142887" y="3930624"/>
                  </a:lnTo>
                  <a:lnTo>
                    <a:pt x="142887" y="151066"/>
                  </a:lnTo>
                  <a:lnTo>
                    <a:pt x="152844" y="111353"/>
                  </a:lnTo>
                  <a:lnTo>
                    <a:pt x="180289" y="81076"/>
                  </a:lnTo>
                  <a:lnTo>
                    <a:pt x="218757" y="67310"/>
                  </a:lnTo>
                  <a:lnTo>
                    <a:pt x="227050" y="66903"/>
                  </a:lnTo>
                  <a:lnTo>
                    <a:pt x="3386874" y="66903"/>
                  </a:lnTo>
                  <a:lnTo>
                    <a:pt x="3426587" y="76860"/>
                  </a:lnTo>
                  <a:lnTo>
                    <a:pt x="3456863" y="104305"/>
                  </a:lnTo>
                  <a:lnTo>
                    <a:pt x="3470643" y="142773"/>
                  </a:lnTo>
                  <a:lnTo>
                    <a:pt x="3471037" y="151066"/>
                  </a:lnTo>
                  <a:lnTo>
                    <a:pt x="3471037" y="0"/>
                  </a:lnTo>
                  <a:lnTo>
                    <a:pt x="0" y="0"/>
                  </a:lnTo>
                  <a:lnTo>
                    <a:pt x="0" y="4233672"/>
                  </a:lnTo>
                  <a:lnTo>
                    <a:pt x="3614928" y="4233672"/>
                  </a:lnTo>
                  <a:lnTo>
                    <a:pt x="3614928" y="4014787"/>
                  </a:lnTo>
                  <a:lnTo>
                    <a:pt x="3614928" y="66903"/>
                  </a:lnTo>
                  <a:lnTo>
                    <a:pt x="3614928"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14" name="object 14"/>
            <p:cNvSpPr/>
            <p:nvPr/>
          </p:nvSpPr>
          <p:spPr>
            <a:xfrm>
              <a:off x="4320136" y="1071197"/>
              <a:ext cx="3343910" cy="3963670"/>
            </a:xfrm>
            <a:custGeom>
              <a:avLst/>
              <a:gdLst/>
              <a:ahLst/>
              <a:cxnLst/>
              <a:rect b="b" l="l" r="r" t="t"/>
              <a:pathLst>
                <a:path h="3963670" w="3343909">
                  <a:moveTo>
                    <a:pt x="3257669" y="3963176"/>
                  </a:moveTo>
                  <a:lnTo>
                    <a:pt x="85782" y="3963176"/>
                  </a:lnTo>
                  <a:lnTo>
                    <a:pt x="79812" y="3962587"/>
                  </a:lnTo>
                  <a:lnTo>
                    <a:pt x="35791" y="3944353"/>
                  </a:lnTo>
                  <a:lnTo>
                    <a:pt x="9295" y="3912068"/>
                  </a:lnTo>
                  <a:lnTo>
                    <a:pt x="0" y="3877393"/>
                  </a:lnTo>
                  <a:lnTo>
                    <a:pt x="0" y="3871365"/>
                  </a:lnTo>
                  <a:lnTo>
                    <a:pt x="0" y="85782"/>
                  </a:lnTo>
                  <a:lnTo>
                    <a:pt x="12123" y="45815"/>
                  </a:lnTo>
                  <a:lnTo>
                    <a:pt x="45816" y="12123"/>
                  </a:lnTo>
                  <a:lnTo>
                    <a:pt x="85782" y="0"/>
                  </a:lnTo>
                  <a:lnTo>
                    <a:pt x="3257669" y="0"/>
                  </a:lnTo>
                  <a:lnTo>
                    <a:pt x="3297635" y="12123"/>
                  </a:lnTo>
                  <a:lnTo>
                    <a:pt x="3331326" y="45815"/>
                  </a:lnTo>
                  <a:lnTo>
                    <a:pt x="3343451" y="85782"/>
                  </a:lnTo>
                  <a:lnTo>
                    <a:pt x="3343451" y="3877393"/>
                  </a:lnTo>
                  <a:lnTo>
                    <a:pt x="3331326" y="3917359"/>
                  </a:lnTo>
                  <a:lnTo>
                    <a:pt x="3297635" y="3951051"/>
                  </a:lnTo>
                  <a:lnTo>
                    <a:pt x="3263639" y="3962587"/>
                  </a:lnTo>
                  <a:lnTo>
                    <a:pt x="3257669" y="3963176"/>
                  </a:lnTo>
                  <a:close/>
                </a:path>
              </a:pathLst>
            </a:custGeom>
            <a:solidFill>
              <a:srgbClr val="FFFFFF"/>
            </a:solidFill>
          </p:spPr>
          <p:txBody>
            <a:bodyPr bIns="0" lIns="0" rIns="0" rtlCol="0" tIns="0" wrap="square"/>
            <a:lstStyle/>
            <a:p>
              <a:pPr>
                <a:defRPr>
                  <a:latin typeface="Noto Sans JP"/>
                  <a:ea typeface="Noto Sans JP"/>
                  <a:cs typeface="Noto Sans JP"/>
                </a:defRPr>
              </a:pPr>
            </a:p>
          </p:txBody>
        </p:sp>
        <p:sp>
          <p:nvSpPr>
            <p:cNvPr id="15" name="object 15"/>
            <p:cNvSpPr/>
            <p:nvPr/>
          </p:nvSpPr>
          <p:spPr>
            <a:xfrm>
              <a:off x="4503758" y="2524872"/>
              <a:ext cx="2976245" cy="1630045"/>
            </a:xfrm>
            <a:custGeom>
              <a:avLst/>
              <a:gdLst/>
              <a:ahLst/>
              <a:cxnLst/>
              <a:rect b="b" l="l" r="r" t="t"/>
              <a:pathLst>
                <a:path h="1630045" w="2976245">
                  <a:moveTo>
                    <a:pt x="2919018" y="1629645"/>
                  </a:moveTo>
                  <a:lnTo>
                    <a:pt x="57188" y="1629645"/>
                  </a:lnTo>
                  <a:lnTo>
                    <a:pt x="53208" y="1629253"/>
                  </a:lnTo>
                  <a:lnTo>
                    <a:pt x="15085" y="1608876"/>
                  </a:lnTo>
                  <a:lnTo>
                    <a:pt x="0" y="1572456"/>
                  </a:lnTo>
                  <a:lnTo>
                    <a:pt x="0" y="1568438"/>
                  </a:lnTo>
                  <a:lnTo>
                    <a:pt x="0" y="57188"/>
                  </a:lnTo>
                  <a:lnTo>
                    <a:pt x="15085" y="20768"/>
                  </a:lnTo>
                  <a:lnTo>
                    <a:pt x="53208" y="392"/>
                  </a:lnTo>
                  <a:lnTo>
                    <a:pt x="57188" y="0"/>
                  </a:lnTo>
                  <a:lnTo>
                    <a:pt x="2919018" y="0"/>
                  </a:lnTo>
                  <a:lnTo>
                    <a:pt x="2955438" y="15085"/>
                  </a:lnTo>
                  <a:lnTo>
                    <a:pt x="2975815" y="53208"/>
                  </a:lnTo>
                  <a:lnTo>
                    <a:pt x="2976207" y="57188"/>
                  </a:lnTo>
                  <a:lnTo>
                    <a:pt x="2976207" y="1572456"/>
                  </a:lnTo>
                  <a:lnTo>
                    <a:pt x="2961121" y="1608876"/>
                  </a:lnTo>
                  <a:lnTo>
                    <a:pt x="2922998" y="1629253"/>
                  </a:lnTo>
                  <a:lnTo>
                    <a:pt x="2919018" y="1629645"/>
                  </a:lnTo>
                  <a:close/>
                </a:path>
              </a:pathLst>
            </a:custGeom>
            <a:solidFill>
              <a:srgbClr val="F0FDF4"/>
            </a:solidFill>
          </p:spPr>
          <p:txBody>
            <a:bodyPr bIns="0" lIns="0" rIns="0" rtlCol="0" tIns="0" wrap="square"/>
            <a:lstStyle/>
            <a:p>
              <a:pPr>
                <a:defRPr>
                  <a:latin typeface="Noto Sans JP"/>
                  <a:ea typeface="Noto Sans JP"/>
                  <a:cs typeface="Noto Sans JP"/>
                </a:defRPr>
              </a:pPr>
            </a:p>
          </p:txBody>
        </p:sp>
        <p:pic>
          <p:nvPicPr>
            <p:cNvPr id="16" name="object 16"/>
            <p:cNvPicPr/>
            <p:nvPr/>
          </p:nvPicPr>
          <p:blipFill>
            <a:blip cstate="print" r:embed="rId4"/>
            <a:stretch>
              <a:fillRect/>
            </a:stretch>
          </p:blipFill>
          <p:spPr>
            <a:xfrm>
              <a:off x="5875663" y="1249133"/>
              <a:ext cx="231775" cy="374650"/>
            </a:xfrm>
            <a:prstGeom prst="rect">
              <a:avLst/>
            </a:prstGeom>
          </p:spPr>
        </p:pic>
      </p:grpSp>
      <p:sp>
        <p:nvSpPr>
          <p:cNvPr id="17" name="object 17"/>
          <p:cNvSpPr txBox="1"/>
          <p:nvPr/>
        </p:nvSpPr>
        <p:spPr>
          <a:xfrm>
            <a:off x="4799486" y="1752130"/>
            <a:ext cx="2382520" cy="635635"/>
          </a:xfrm>
          <a:prstGeom prst="rect">
            <a:avLst/>
          </a:prstGeom>
        </p:spPr>
        <p:txBody>
          <a:bodyPr bIns="0" lIns="0" rIns="0" rtlCol="0" tIns="14604" vert="horz" wrap="square">
            <a:spAutoFit/>
          </a:bodyPr>
          <a:lstStyle/>
          <a:p>
            <a:pPr algn="ctr">
              <a:lnSpc>
                <a:spcPct val="100000"/>
              </a:lnSpc>
              <a:spcBef>
                <a:spcPts val="114"/>
              </a:spcBef>
              <a:defRPr>
                <a:latin typeface="Noto Sans JP"/>
                <a:ea typeface="Noto Sans JP"/>
                <a:cs typeface="Noto Sans JP"/>
              </a:defRPr>
            </a:pPr>
            <a:r>
              <a:rPr b="0" dirty="0" spc="-15" sz="1750">
                <a:solidFill>
                  <a:srgbClr val="166533"/>
                </a:solidFill>
                <a:latin typeface="Noto Sans JP"/>
                <a:ea typeface="Noto Sans JP"/>
                <a:cs typeface="Noto Sans JP"/>
              </a:rPr>
              <a:t>歩行瞑想</a:t>
            </a:r>
            <a:endParaRPr sz="1750">
              <a:latin typeface="Noto Sans JP Thin"/>
              <a:cs typeface="Noto Sans JP Thin"/>
            </a:endParaRPr>
          </a:p>
          <a:p>
            <a:pPr algn="ctr">
              <a:lnSpc>
                <a:spcPct val="100000"/>
              </a:lnSpc>
              <a:spcBef>
                <a:spcPts val="1120"/>
              </a:spcBef>
              <a:defRPr>
                <a:latin typeface="Noto Sans JP"/>
                <a:ea typeface="Noto Sans JP"/>
                <a:cs typeface="Noto Sans JP"/>
              </a:defRPr>
            </a:pPr>
            <a:r>
              <a:rPr b="0" dirty="0" spc="-5" sz="1300">
                <a:solidFill>
                  <a:srgbClr val="374050"/>
                </a:solidFill>
                <a:latin typeface="Noto Sans JP"/>
                <a:ea typeface="Noto Sans JP"/>
                <a:cs typeface="Noto Sans JP"/>
              </a:rPr>
              <a:t>訪問先への移動中にも実践可能</a:t>
            </a:r>
            <a:endParaRPr sz="1300">
              <a:latin typeface="Noto Sans JP Thin"/>
              <a:cs typeface="Noto Sans JP Thin"/>
            </a:endParaRPr>
          </a:p>
        </p:txBody>
      </p:sp>
      <p:grpSp>
        <p:nvGrpSpPr>
          <p:cNvPr id="18" name="object 18"/>
          <p:cNvGrpSpPr/>
          <p:nvPr/>
        </p:nvGrpSpPr>
        <p:grpSpPr>
          <a:xfrm>
            <a:off x="4955163" y="1011936"/>
            <a:ext cx="6377305" cy="4234180"/>
            <a:chOff x="4955163" y="1011936"/>
            <a:chExt cx="6377305" cy="4234180"/>
          </a:xfrm>
        </p:grpSpPr>
        <p:pic>
          <p:nvPicPr>
            <p:cNvPr descr="歩行瞑想のイメージ" id="19" name="object 19"/>
            <p:cNvPicPr/>
            <p:nvPr/>
          </p:nvPicPr>
          <p:blipFill>
            <a:blip cstate="print" r:embed="rId5"/>
            <a:stretch>
              <a:fillRect/>
            </a:stretch>
          </p:blipFill>
          <p:spPr>
            <a:xfrm>
              <a:off x="4955163" y="2647287"/>
              <a:ext cx="2073399" cy="1384816"/>
            </a:xfrm>
            <a:prstGeom prst="rect">
              <a:avLst/>
            </a:prstGeom>
          </p:spPr>
        </p:pic>
        <p:sp>
          <p:nvSpPr>
            <p:cNvPr id="20" name="object 20"/>
            <p:cNvSpPr/>
            <p:nvPr/>
          </p:nvSpPr>
          <p:spPr>
            <a:xfrm>
              <a:off x="7711427" y="1011948"/>
              <a:ext cx="3621404" cy="4234180"/>
            </a:xfrm>
            <a:custGeom>
              <a:avLst/>
              <a:gdLst/>
              <a:ahLst/>
              <a:cxnLst/>
              <a:rect b="b" l="l" r="r" t="t"/>
              <a:pathLst>
                <a:path h="4234180" w="3621404">
                  <a:moveTo>
                    <a:pt x="3621024" y="0"/>
                  </a:moveTo>
                  <a:lnTo>
                    <a:pt x="3479228" y="0"/>
                  </a:lnTo>
                  <a:lnTo>
                    <a:pt x="3479228" y="151066"/>
                  </a:lnTo>
                  <a:lnTo>
                    <a:pt x="3479228" y="3930624"/>
                  </a:lnTo>
                  <a:lnTo>
                    <a:pt x="3469271" y="3970337"/>
                  </a:lnTo>
                  <a:lnTo>
                    <a:pt x="3441827" y="4000614"/>
                  </a:lnTo>
                  <a:lnTo>
                    <a:pt x="3403358" y="4014381"/>
                  </a:lnTo>
                  <a:lnTo>
                    <a:pt x="3395065" y="4014787"/>
                  </a:lnTo>
                  <a:lnTo>
                    <a:pt x="227584" y="4014787"/>
                  </a:lnTo>
                  <a:lnTo>
                    <a:pt x="187871" y="4004830"/>
                  </a:lnTo>
                  <a:lnTo>
                    <a:pt x="157594" y="3977386"/>
                  </a:lnTo>
                  <a:lnTo>
                    <a:pt x="143827" y="3938917"/>
                  </a:lnTo>
                  <a:lnTo>
                    <a:pt x="143421" y="3930624"/>
                  </a:lnTo>
                  <a:lnTo>
                    <a:pt x="143421" y="151066"/>
                  </a:lnTo>
                  <a:lnTo>
                    <a:pt x="153377" y="111353"/>
                  </a:lnTo>
                  <a:lnTo>
                    <a:pt x="180822" y="81076"/>
                  </a:lnTo>
                  <a:lnTo>
                    <a:pt x="219290" y="67310"/>
                  </a:lnTo>
                  <a:lnTo>
                    <a:pt x="227584" y="66903"/>
                  </a:lnTo>
                  <a:lnTo>
                    <a:pt x="3395065" y="66903"/>
                  </a:lnTo>
                  <a:lnTo>
                    <a:pt x="3434778" y="76860"/>
                  </a:lnTo>
                  <a:lnTo>
                    <a:pt x="3465055" y="104305"/>
                  </a:lnTo>
                  <a:lnTo>
                    <a:pt x="3478822" y="142773"/>
                  </a:lnTo>
                  <a:lnTo>
                    <a:pt x="3479228" y="151066"/>
                  </a:lnTo>
                  <a:lnTo>
                    <a:pt x="3479228" y="0"/>
                  </a:lnTo>
                  <a:lnTo>
                    <a:pt x="0" y="0"/>
                  </a:lnTo>
                  <a:lnTo>
                    <a:pt x="0" y="4233672"/>
                  </a:lnTo>
                  <a:lnTo>
                    <a:pt x="3621024" y="4233672"/>
                  </a:lnTo>
                  <a:lnTo>
                    <a:pt x="3621024" y="4014787"/>
                  </a:lnTo>
                  <a:lnTo>
                    <a:pt x="3621024" y="66903"/>
                  </a:lnTo>
                  <a:lnTo>
                    <a:pt x="3621024"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21" name="object 21"/>
            <p:cNvSpPr/>
            <p:nvPr/>
          </p:nvSpPr>
          <p:spPr>
            <a:xfrm>
              <a:off x="7847209" y="1071197"/>
              <a:ext cx="3351529" cy="3963670"/>
            </a:xfrm>
            <a:custGeom>
              <a:avLst/>
              <a:gdLst/>
              <a:ahLst/>
              <a:cxnLst/>
              <a:rect b="b" l="l" r="r" t="t"/>
              <a:pathLst>
                <a:path h="3963670" w="3351529">
                  <a:moveTo>
                    <a:pt x="3265319" y="3963176"/>
                  </a:moveTo>
                  <a:lnTo>
                    <a:pt x="85782" y="3963176"/>
                  </a:lnTo>
                  <a:lnTo>
                    <a:pt x="79812" y="3962587"/>
                  </a:lnTo>
                  <a:lnTo>
                    <a:pt x="35790" y="3944353"/>
                  </a:lnTo>
                  <a:lnTo>
                    <a:pt x="9294" y="3912068"/>
                  </a:lnTo>
                  <a:lnTo>
                    <a:pt x="0" y="3877393"/>
                  </a:lnTo>
                  <a:lnTo>
                    <a:pt x="0" y="3871365"/>
                  </a:lnTo>
                  <a:lnTo>
                    <a:pt x="0" y="85782"/>
                  </a:lnTo>
                  <a:lnTo>
                    <a:pt x="12122" y="45815"/>
                  </a:lnTo>
                  <a:lnTo>
                    <a:pt x="45815" y="12123"/>
                  </a:lnTo>
                  <a:lnTo>
                    <a:pt x="85782" y="0"/>
                  </a:lnTo>
                  <a:lnTo>
                    <a:pt x="3265319" y="0"/>
                  </a:lnTo>
                  <a:lnTo>
                    <a:pt x="3305285" y="12123"/>
                  </a:lnTo>
                  <a:lnTo>
                    <a:pt x="3338978" y="45815"/>
                  </a:lnTo>
                  <a:lnTo>
                    <a:pt x="3351103" y="85782"/>
                  </a:lnTo>
                  <a:lnTo>
                    <a:pt x="3351103" y="3877393"/>
                  </a:lnTo>
                  <a:lnTo>
                    <a:pt x="3338978" y="3917359"/>
                  </a:lnTo>
                  <a:lnTo>
                    <a:pt x="3305285" y="3951051"/>
                  </a:lnTo>
                  <a:lnTo>
                    <a:pt x="3271289" y="3962587"/>
                  </a:lnTo>
                  <a:lnTo>
                    <a:pt x="3265319" y="3963176"/>
                  </a:lnTo>
                  <a:close/>
                </a:path>
              </a:pathLst>
            </a:custGeom>
            <a:solidFill>
              <a:srgbClr val="FFFFFF"/>
            </a:solidFill>
          </p:spPr>
          <p:txBody>
            <a:bodyPr bIns="0" lIns="0" rIns="0" rtlCol="0" tIns="0" wrap="square"/>
            <a:lstStyle/>
            <a:p>
              <a:pPr>
                <a:defRPr>
                  <a:latin typeface="Noto Sans JP"/>
                  <a:ea typeface="Noto Sans JP"/>
                  <a:cs typeface="Noto Sans JP"/>
                </a:defRPr>
              </a:pPr>
            </a:p>
          </p:txBody>
        </p:sp>
        <p:sp>
          <p:nvSpPr>
            <p:cNvPr id="22" name="object 22"/>
            <p:cNvSpPr/>
            <p:nvPr/>
          </p:nvSpPr>
          <p:spPr>
            <a:xfrm>
              <a:off x="8030831" y="2379504"/>
              <a:ext cx="2983865" cy="2326005"/>
            </a:xfrm>
            <a:custGeom>
              <a:avLst/>
              <a:gdLst/>
              <a:ahLst/>
              <a:cxnLst/>
              <a:rect b="b" l="l" r="r" t="t"/>
              <a:pathLst>
                <a:path h="2326004" w="2983865">
                  <a:moveTo>
                    <a:pt x="2926670" y="2325879"/>
                  </a:moveTo>
                  <a:lnTo>
                    <a:pt x="57188" y="2325879"/>
                  </a:lnTo>
                  <a:lnTo>
                    <a:pt x="53207" y="2325487"/>
                  </a:lnTo>
                  <a:lnTo>
                    <a:pt x="15084" y="2305109"/>
                  </a:lnTo>
                  <a:lnTo>
                    <a:pt x="0" y="2268690"/>
                  </a:lnTo>
                  <a:lnTo>
                    <a:pt x="0" y="2264672"/>
                  </a:lnTo>
                  <a:lnTo>
                    <a:pt x="0" y="57188"/>
                  </a:lnTo>
                  <a:lnTo>
                    <a:pt x="15084" y="20768"/>
                  </a:lnTo>
                  <a:lnTo>
                    <a:pt x="53207" y="392"/>
                  </a:lnTo>
                  <a:lnTo>
                    <a:pt x="57188" y="0"/>
                  </a:lnTo>
                  <a:lnTo>
                    <a:pt x="2926670" y="0"/>
                  </a:lnTo>
                  <a:lnTo>
                    <a:pt x="2963088" y="15085"/>
                  </a:lnTo>
                  <a:lnTo>
                    <a:pt x="2983465" y="53207"/>
                  </a:lnTo>
                  <a:lnTo>
                    <a:pt x="2983857" y="57188"/>
                  </a:lnTo>
                  <a:lnTo>
                    <a:pt x="2983857" y="2268690"/>
                  </a:lnTo>
                  <a:lnTo>
                    <a:pt x="2968772" y="2305109"/>
                  </a:lnTo>
                  <a:lnTo>
                    <a:pt x="2930649" y="2325487"/>
                  </a:lnTo>
                  <a:lnTo>
                    <a:pt x="2926670" y="2325879"/>
                  </a:lnTo>
                  <a:close/>
                </a:path>
              </a:pathLst>
            </a:custGeom>
            <a:solidFill>
              <a:srgbClr val="F0FDF4"/>
            </a:solidFill>
          </p:spPr>
          <p:txBody>
            <a:bodyPr bIns="0" lIns="0" rIns="0" rtlCol="0" tIns="0" wrap="square"/>
            <a:lstStyle/>
            <a:p>
              <a:pPr>
                <a:defRPr>
                  <a:latin typeface="Noto Sans JP"/>
                  <a:ea typeface="Noto Sans JP"/>
                  <a:cs typeface="Noto Sans JP"/>
                </a:defRPr>
              </a:pPr>
            </a:p>
          </p:txBody>
        </p:sp>
      </p:grpSp>
      <p:sp>
        <p:nvSpPr>
          <p:cNvPr descr="$PPTXTitle" id="23" name="object 23"/>
          <p:cNvSpPr txBox="1">
            <a:spLocks noGrp="1"/>
          </p:cNvSpPr>
          <p:nvPr>
            <p:ph type="title"/>
          </p:nvPr>
        </p:nvSpPr>
        <p:spPr>
          <a:xfrm>
            <a:off x="8835824" y="1606762"/>
            <a:ext cx="1448435" cy="295275"/>
          </a:xfrm>
          <a:prstGeom prst="rect"/>
        </p:spPr>
        <p:txBody>
          <a:bodyPr bIns="0" lIns="0" rIns="0" rtlCol="0" tIns="14604" vert="horz" wrap="square">
            <a:spAutoFit/>
          </a:bodyPr>
          <a:lstStyle/>
          <a:p>
            <a:pPr marL="12700">
              <a:lnSpc>
                <a:spcPct val="100000"/>
              </a:lnSpc>
              <a:spcBef>
                <a:spcPts val="114"/>
              </a:spcBef>
              <a:defRPr>
                <a:latin typeface="Noto Sans JP"/>
                <a:ea typeface="Noto Sans JP"/>
                <a:cs typeface="Noto Sans JP"/>
              </a:defRPr>
            </a:pPr>
            <a:r>
              <a:rPr dirty="0" spc="-10" sz="1750">
                <a:solidFill>
                  <a:srgbClr val="166533"/>
                </a:solidFill>
                <a:latin typeface="Noto Sans JP"/>
                <a:ea typeface="Noto Sans JP"/>
                <a:cs typeface="Noto Sans JP"/>
              </a:rPr>
              <a:t>定期的な瞑想</a:t>
            </a:r>
            <a:endParaRPr sz="1750"/>
          </a:p>
        </p:txBody>
      </p:sp>
      <p:sp>
        <p:nvSpPr>
          <p:cNvPr id="24" name="object 24"/>
          <p:cNvSpPr txBox="1"/>
          <p:nvPr/>
        </p:nvSpPr>
        <p:spPr>
          <a:xfrm>
            <a:off x="8742339" y="2014786"/>
            <a:ext cx="1558925" cy="227965"/>
          </a:xfrm>
          <a:prstGeom prst="rect">
            <a:avLst/>
          </a:prstGeom>
        </p:spPr>
        <p:txBody>
          <a:bodyPr bIns="0" lIns="0" rIns="0" rtlCol="0" tIns="15875" vert="horz" wrap="square">
            <a:spAutoFit/>
          </a:bodyPr>
          <a:lstStyle/>
          <a:p>
            <a:pPr marL="12700">
              <a:lnSpc>
                <a:spcPct val="100000"/>
              </a:lnSpc>
              <a:spcBef>
                <a:spcPts val="125"/>
              </a:spcBef>
              <a:defRPr>
                <a:latin typeface="Noto Sans JP"/>
                <a:ea typeface="Noto Sans JP"/>
                <a:cs typeface="Noto Sans JP"/>
              </a:defRPr>
            </a:pPr>
            <a:r>
              <a:rPr b="0" dirty="0" spc="55" sz="1300">
                <a:solidFill>
                  <a:srgbClr val="374050"/>
                </a:solidFill>
                <a:latin typeface="Noto Sans JP"/>
                <a:ea typeface="Noto Sans JP"/>
                <a:cs typeface="Noto Sans JP"/>
              </a:rPr>
              <a:t>10</a:t>
            </a:r>
            <a:r>
              <a:rPr b="0" dirty="0" spc="-10" sz="1300">
                <a:solidFill>
                  <a:srgbClr val="374050"/>
                </a:solidFill>
                <a:latin typeface="Noto Sans JP"/>
                <a:ea typeface="Noto Sans JP"/>
                <a:cs typeface="Noto Sans JP"/>
              </a:rPr>
              <a:t>分程度を継続する</a:t>
            </a:r>
            <a:endParaRPr sz="1300">
              <a:latin typeface="Noto Sans JP Thin"/>
              <a:cs typeface="Noto Sans JP Thin"/>
            </a:endParaRPr>
          </a:p>
        </p:txBody>
      </p:sp>
      <p:pic>
        <p:nvPicPr>
          <p:cNvPr descr="瞑想のイラスト" id="25" name="object 25"/>
          <p:cNvPicPr/>
          <p:nvPr/>
        </p:nvPicPr>
        <p:blipFill>
          <a:blip cstate="print" r:embed="rId6"/>
          <a:stretch>
            <a:fillRect/>
          </a:stretch>
        </p:blipFill>
        <p:spPr>
          <a:xfrm>
            <a:off x="8482236" y="2501919"/>
            <a:ext cx="2081050" cy="2081049"/>
          </a:xfrm>
          <a:prstGeom prst="rect">
            <a:avLst/>
          </a:prstGeom>
        </p:spPr>
      </p:pic>
      <p:pic>
        <p:nvPicPr>
          <p:cNvPr id="26" name="object 26"/>
          <p:cNvPicPr/>
          <p:nvPr/>
        </p:nvPicPr>
        <p:blipFill>
          <a:blip cstate="print" r:embed="rId7"/>
          <a:stretch>
            <a:fillRect/>
          </a:stretch>
        </p:blipFill>
        <p:spPr>
          <a:xfrm>
            <a:off x="5416025" y="5431120"/>
            <a:ext cx="158750" cy="228600"/>
          </a:xfrm>
          <a:prstGeom prst="rect">
            <a:avLst/>
          </a:prstGeom>
        </p:spPr>
      </p:pic>
      <p:sp>
        <p:nvSpPr>
          <p:cNvPr id="27" name="object 27"/>
          <p:cNvSpPr txBox="1"/>
          <p:nvPr/>
        </p:nvSpPr>
        <p:spPr>
          <a:xfrm>
            <a:off x="1007618" y="5409269"/>
            <a:ext cx="9966325" cy="960755"/>
          </a:xfrm>
          <a:prstGeom prst="rect">
            <a:avLst/>
          </a:prstGeom>
        </p:spPr>
        <p:txBody>
          <a:bodyPr bIns="0" lIns="0" rIns="0" rtlCol="0" tIns="14604" vert="horz" wrap="square">
            <a:spAutoFit/>
          </a:bodyPr>
          <a:lstStyle/>
          <a:p>
            <a:pPr algn="ctr" marL="263525">
              <a:lnSpc>
                <a:spcPct val="100000"/>
              </a:lnSpc>
              <a:spcBef>
                <a:spcPts val="114"/>
              </a:spcBef>
              <a:defRPr>
                <a:latin typeface="Noto Sans JP"/>
                <a:ea typeface="Noto Sans JP"/>
                <a:cs typeface="Noto Sans JP"/>
              </a:defRPr>
            </a:pPr>
            <a:r>
              <a:rPr b="0" dirty="0" spc="-15" sz="1750">
                <a:solidFill>
                  <a:srgbClr val="166533"/>
                </a:solidFill>
                <a:latin typeface="Noto Sans JP"/>
                <a:ea typeface="Noto Sans JP"/>
                <a:cs typeface="Noto Sans JP"/>
              </a:rPr>
              <a:t>ポイント</a:t>
            </a:r>
            <a:endParaRPr sz="1750">
              <a:latin typeface="Noto Sans JP Thin"/>
              <a:cs typeface="Noto Sans JP Thin"/>
            </a:endParaRPr>
          </a:p>
          <a:p>
            <a:pPr algn="ctr" marL="12700" marR="5080">
              <a:lnSpc>
                <a:spcPct val="135000"/>
              </a:lnSpc>
              <a:spcBef>
                <a:spcPts val="545"/>
              </a:spcBef>
              <a:defRPr>
                <a:latin typeface="Noto Sans JP"/>
                <a:ea typeface="Noto Sans JP"/>
                <a:cs typeface="Noto Sans JP"/>
              </a:defRPr>
            </a:pPr>
            <a:r>
              <a:rPr b="0" dirty="0" spc="-5" sz="1450">
                <a:solidFill>
                  <a:srgbClr val="374050"/>
                </a:solidFill>
                <a:latin typeface="Noto Sans JP"/>
                <a:ea typeface="Noto Sans JP"/>
                <a:cs typeface="Noto Sans JP"/>
              </a:rPr>
              <a:t>特別な時間や場所は必要ありません。業務の合間や移動中などの</a:t>
            </a:r>
            <a:r>
              <a:rPr b="0" dirty="0" sz="1450">
                <a:solidFill>
                  <a:srgbClr val="15803C"/>
                </a:solidFill>
                <a:latin typeface="Noto Sans JP"/>
                <a:ea typeface="Noto Sans JP"/>
                <a:cs typeface="Noto Sans JP"/>
              </a:rPr>
              <a:t>日常の隙間時間</a:t>
            </a:r>
            <a:r>
              <a:rPr b="0" dirty="0" spc="80" sz="1450">
                <a:solidFill>
                  <a:srgbClr val="374050"/>
                </a:solidFill>
                <a:latin typeface="Noto Sans JP"/>
                <a:ea typeface="Noto Sans JP"/>
                <a:cs typeface="Noto Sans JP"/>
              </a:rPr>
              <a:t>を活用し、 </a:t>
            </a:r>
            <a:r>
              <a:rPr b="0" dirty="0" spc="-10" sz="1450">
                <a:solidFill>
                  <a:srgbClr val="15803C"/>
                </a:solidFill>
                <a:latin typeface="Noto Sans JP"/>
                <a:ea typeface="Noto Sans JP"/>
                <a:cs typeface="Noto Sans JP"/>
              </a:rPr>
              <a:t>習慣として</a:t>
            </a:r>
            <a:r>
              <a:rPr b="0" dirty="0" spc="-10" sz="1450">
                <a:solidFill>
                  <a:srgbClr val="374050"/>
                </a:solidFill>
                <a:latin typeface="Noto Sans JP"/>
                <a:ea typeface="Noto Sans JP"/>
                <a:cs typeface="Noto Sans JP"/>
              </a:rPr>
              <a:t>取り入れること</a:t>
            </a:r>
            <a:r>
              <a:rPr b="0" dirty="0" spc="-5" sz="1450">
                <a:solidFill>
                  <a:srgbClr val="374050"/>
                </a:solidFill>
                <a:latin typeface="Noto Sans JP"/>
                <a:ea typeface="Noto Sans JP"/>
                <a:cs typeface="Noto Sans JP"/>
              </a:rPr>
              <a:t>が心の安定につながります</a:t>
            </a:r>
            <a:endParaRPr sz="1450">
              <a:latin typeface="Noto Sans JP Thin"/>
              <a:cs typeface="Noto Sans JP Thin"/>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object 2"/>
          <p:cNvPicPr/>
          <p:nvPr/>
        </p:nvPicPr>
        <p:blipFill>
          <a:blip cstate="print" r:embed="rId2"/>
          <a:stretch>
            <a:fillRect/>
          </a:stretch>
        </p:blipFill>
        <p:spPr>
          <a:xfrm>
            <a:off x="3620414" y="382802"/>
            <a:ext cx="447674" cy="450849"/>
          </a:xfrm>
          <a:prstGeom prst="rect">
            <a:avLst/>
          </a:prstGeom>
        </p:spPr>
      </p:pic>
      <p:sp>
        <p:nvSpPr>
          <p:cNvPr descr="$PPTXTitle" id="3" name="object 3"/>
          <p:cNvSpPr txBox="1">
            <a:spLocks noGrp="1"/>
          </p:cNvSpPr>
          <p:nvPr>
            <p:ph type="title"/>
          </p:nvPr>
        </p:nvSpPr>
        <p:spPr>
          <a:prstGeom prst="rect"/>
        </p:spPr>
        <p:txBody>
          <a:bodyPr bIns="0" lIns="0" rIns="0" rtlCol="0" tIns="307164" vert="horz" wrap="square">
            <a:spAutoFit/>
          </a:bodyPr>
          <a:lstStyle/>
          <a:p>
            <a:pPr marL="1450340">
              <a:lnSpc>
                <a:spcPct val="100000"/>
              </a:lnSpc>
              <a:spcBef>
                <a:spcPts val="135"/>
              </a:spcBef>
              <a:defRPr>
                <a:latin typeface="Noto Sans JP"/>
                <a:ea typeface="Noto Sans JP"/>
                <a:cs typeface="Noto Sans JP"/>
              </a:defRPr>
            </a:pPr>
            <a:r>
              <a:rPr dirty="0" spc="75">
                <a:latin typeface="Noto Sans JP"/>
                <a:ea typeface="Noto Sans JP"/>
                <a:cs typeface="Noto Sans JP"/>
              </a:rPr>
              <a:t>まとめと次の一歩 </a:t>
            </a:r>
            <a:r>
              <a:rPr b="0" baseline="3174" dirty="0" spc="-705" sz="5250">
                <a:solidFill>
                  <a:srgbClr val="21C45D"/>
                </a:solidFill>
                <a:latin typeface="Noto Sans JP"/>
                <a:ea typeface="Noto Sans JP"/>
                <a:cs typeface="Noto Sans JP"/>
              </a:rPr>
              <a:t>→</a:t>
            </a:r>
            <a:endParaRPr baseline="3174" sz="5250">
              <a:latin typeface="Arial"/>
              <a:cs typeface="Arial"/>
            </a:endParaRPr>
          </a:p>
        </p:txBody>
      </p:sp>
      <p:grpSp>
        <p:nvGrpSpPr>
          <p:cNvPr id="4" name="object 4"/>
          <p:cNvGrpSpPr/>
          <p:nvPr/>
        </p:nvGrpSpPr>
        <p:grpSpPr>
          <a:xfrm>
            <a:off x="731519" y="1207008"/>
            <a:ext cx="10513060" cy="5248910"/>
            <a:chOff x="731519" y="1207008"/>
            <a:chExt cx="10513060" cy="5248910"/>
          </a:xfrm>
        </p:grpSpPr>
        <p:pic>
          <p:nvPicPr>
            <p:cNvPr id="5" name="object 5"/>
            <p:cNvPicPr/>
            <p:nvPr/>
          </p:nvPicPr>
          <p:blipFill>
            <a:blip cstate="print" r:embed="rId3"/>
            <a:stretch>
              <a:fillRect/>
            </a:stretch>
          </p:blipFill>
          <p:spPr>
            <a:xfrm>
              <a:off x="731519" y="1207008"/>
              <a:ext cx="10512551" cy="5248655"/>
            </a:xfrm>
            <a:prstGeom prst="rect">
              <a:avLst/>
            </a:prstGeom>
          </p:spPr>
        </p:pic>
        <p:pic>
          <p:nvPicPr>
            <p:cNvPr id="6" name="object 6"/>
            <p:cNvPicPr/>
            <p:nvPr/>
          </p:nvPicPr>
          <p:blipFill>
            <a:blip cstate="print" r:embed="rId4"/>
            <a:stretch>
              <a:fillRect/>
            </a:stretch>
          </p:blipFill>
          <p:spPr>
            <a:xfrm>
              <a:off x="2327064" y="1538733"/>
              <a:ext cx="384174" cy="298449"/>
            </a:xfrm>
            <a:prstGeom prst="rect">
              <a:avLst/>
            </a:prstGeom>
          </p:spPr>
        </p:pic>
      </p:grpSp>
      <p:sp>
        <p:nvSpPr>
          <p:cNvPr id="7" name="object 7"/>
          <p:cNvSpPr txBox="1"/>
          <p:nvPr/>
        </p:nvSpPr>
        <p:spPr>
          <a:xfrm>
            <a:off x="2132768" y="1998722"/>
            <a:ext cx="774065" cy="250190"/>
          </a:xfrm>
          <a:prstGeom prst="rect">
            <a:avLst/>
          </a:prstGeom>
        </p:spPr>
        <p:txBody>
          <a:bodyPr bIns="0" lIns="0" rIns="0" rtlCol="0" tIns="15240" vert="horz" wrap="square">
            <a:spAutoFit/>
          </a:bodyPr>
          <a:lstStyle/>
          <a:p>
            <a:pPr marL="12700">
              <a:lnSpc>
                <a:spcPct val="100000"/>
              </a:lnSpc>
              <a:spcBef>
                <a:spcPts val="120"/>
              </a:spcBef>
              <a:defRPr>
                <a:latin typeface="Noto Sans JP"/>
                <a:ea typeface="Noto Sans JP"/>
                <a:cs typeface="Noto Sans JP"/>
              </a:defRPr>
            </a:pPr>
            <a:r>
              <a:rPr b="0" dirty="0" spc="-15" sz="1450">
                <a:solidFill>
                  <a:srgbClr val="166533"/>
                </a:solidFill>
                <a:latin typeface="Noto Sans JP"/>
                <a:ea typeface="Noto Sans JP"/>
                <a:cs typeface="Noto Sans JP"/>
              </a:rPr>
              <a:t>気づく力</a:t>
            </a:r>
            <a:endParaRPr sz="1450">
              <a:latin typeface="Noto Sans JP Thin"/>
              <a:cs typeface="Noto Sans JP Thin"/>
            </a:endParaRPr>
          </a:p>
        </p:txBody>
      </p:sp>
      <p:sp>
        <p:nvSpPr>
          <p:cNvPr id="8" name="object 8"/>
          <p:cNvSpPr txBox="1"/>
          <p:nvPr/>
        </p:nvSpPr>
        <p:spPr>
          <a:xfrm>
            <a:off x="1161409" y="2434687"/>
            <a:ext cx="2716530" cy="568325"/>
          </a:xfrm>
          <a:prstGeom prst="rect">
            <a:avLst/>
          </a:prstGeom>
        </p:spPr>
        <p:txBody>
          <a:bodyPr bIns="0" lIns="0" rIns="0" rtlCol="0" tIns="12065" vert="horz" wrap="square">
            <a:spAutoFit/>
          </a:bodyPr>
          <a:lstStyle/>
          <a:p>
            <a:pPr indent="-756285" marL="768350" marR="5080">
              <a:lnSpc>
                <a:spcPct val="136900"/>
              </a:lnSpc>
              <a:spcBef>
                <a:spcPts val="95"/>
              </a:spcBef>
              <a:defRPr>
                <a:latin typeface="Noto Sans JP"/>
                <a:ea typeface="Noto Sans JP"/>
                <a:cs typeface="Noto Sans JP"/>
              </a:defRPr>
            </a:pPr>
            <a:r>
              <a:rPr b="0" dirty="0" spc="-10" sz="1300">
                <a:solidFill>
                  <a:srgbClr val="374050"/>
                </a:solidFill>
                <a:latin typeface="Noto Sans JP"/>
                <a:ea typeface="Noto Sans JP"/>
                <a:cs typeface="Noto Sans JP"/>
              </a:rPr>
              <a:t>自分の状態に気づく力が、質の高いケアにつながる</a:t>
            </a:r>
            <a:endParaRPr sz="1300">
              <a:latin typeface="Noto Sans JP Thin"/>
              <a:cs typeface="Noto Sans JP Thin"/>
            </a:endParaRPr>
          </a:p>
        </p:txBody>
      </p:sp>
      <p:grpSp>
        <p:nvGrpSpPr>
          <p:cNvPr id="9" name="object 9"/>
          <p:cNvGrpSpPr/>
          <p:nvPr/>
        </p:nvGrpSpPr>
        <p:grpSpPr>
          <a:xfrm>
            <a:off x="1122654" y="1519683"/>
            <a:ext cx="10020935" cy="4936490"/>
            <a:chOff x="1122654" y="1519683"/>
            <a:chExt cx="10020935" cy="4936490"/>
          </a:xfrm>
        </p:grpSpPr>
        <p:pic>
          <p:nvPicPr>
            <p:cNvPr id="10" name="object 10"/>
            <p:cNvPicPr/>
            <p:nvPr/>
          </p:nvPicPr>
          <p:blipFill>
            <a:blip cstate="print" r:embed="rId5"/>
            <a:stretch>
              <a:fillRect/>
            </a:stretch>
          </p:blipFill>
          <p:spPr>
            <a:xfrm>
              <a:off x="5818946" y="1519683"/>
              <a:ext cx="336549" cy="339724"/>
            </a:xfrm>
            <a:prstGeom prst="rect">
              <a:avLst/>
            </a:prstGeom>
          </p:spPr>
        </p:pic>
        <p:pic>
          <p:nvPicPr>
            <p:cNvPr id="11" name="object 11"/>
            <p:cNvPicPr/>
            <p:nvPr/>
          </p:nvPicPr>
          <p:blipFill>
            <a:blip cstate="print" r:embed="rId6"/>
            <a:stretch>
              <a:fillRect/>
            </a:stretch>
          </p:blipFill>
          <p:spPr>
            <a:xfrm>
              <a:off x="9286750" y="1519683"/>
              <a:ext cx="336549" cy="339724"/>
            </a:xfrm>
            <a:prstGeom prst="rect">
              <a:avLst/>
            </a:prstGeom>
          </p:spPr>
        </p:pic>
        <p:pic>
          <p:nvPicPr>
            <p:cNvPr descr="セルフケア" id="12" name="object 12"/>
            <p:cNvPicPr/>
            <p:nvPr/>
          </p:nvPicPr>
          <p:blipFill>
            <a:blip cstate="print" r:embed="rId7"/>
            <a:stretch>
              <a:fillRect/>
            </a:stretch>
          </p:blipFill>
          <p:spPr>
            <a:xfrm>
              <a:off x="1122654" y="4930324"/>
              <a:ext cx="4490618" cy="1197498"/>
            </a:xfrm>
            <a:prstGeom prst="rect">
              <a:avLst/>
            </a:prstGeom>
          </p:spPr>
        </p:pic>
        <p:sp>
          <p:nvSpPr>
            <p:cNvPr id="13" name="object 13"/>
            <p:cNvSpPr/>
            <p:nvPr/>
          </p:nvSpPr>
          <p:spPr>
            <a:xfrm>
              <a:off x="6071603" y="3517404"/>
              <a:ext cx="5072380" cy="2938780"/>
            </a:xfrm>
            <a:custGeom>
              <a:avLst/>
              <a:gdLst/>
              <a:ahLst/>
              <a:cxnLst/>
              <a:rect b="b" l="l" r="r" t="t"/>
              <a:pathLst>
                <a:path h="2938779" w="5072380">
                  <a:moveTo>
                    <a:pt x="5071872" y="0"/>
                  </a:moveTo>
                  <a:lnTo>
                    <a:pt x="4995888" y="0"/>
                  </a:lnTo>
                  <a:lnTo>
                    <a:pt x="4995888" y="178003"/>
                  </a:lnTo>
                  <a:lnTo>
                    <a:pt x="4995888" y="2685262"/>
                  </a:lnTo>
                  <a:lnTo>
                    <a:pt x="4989881" y="2725940"/>
                  </a:lnTo>
                  <a:lnTo>
                    <a:pt x="4972266" y="2763253"/>
                  </a:lnTo>
                  <a:lnTo>
                    <a:pt x="4944542" y="2793796"/>
                  </a:lnTo>
                  <a:lnTo>
                    <a:pt x="4909261" y="2814917"/>
                  </a:lnTo>
                  <a:lnTo>
                    <a:pt x="4869383" y="2824937"/>
                  </a:lnTo>
                  <a:lnTo>
                    <a:pt x="4855565" y="2825597"/>
                  </a:lnTo>
                  <a:lnTo>
                    <a:pt x="215252" y="2825597"/>
                  </a:lnTo>
                  <a:lnTo>
                    <a:pt x="174574" y="2819590"/>
                  </a:lnTo>
                  <a:lnTo>
                    <a:pt x="137274" y="2801975"/>
                  </a:lnTo>
                  <a:lnTo>
                    <a:pt x="106718" y="2774251"/>
                  </a:lnTo>
                  <a:lnTo>
                    <a:pt x="85610" y="2738971"/>
                  </a:lnTo>
                  <a:lnTo>
                    <a:pt x="75590" y="2699093"/>
                  </a:lnTo>
                  <a:lnTo>
                    <a:pt x="74917" y="2685262"/>
                  </a:lnTo>
                  <a:lnTo>
                    <a:pt x="74917" y="178003"/>
                  </a:lnTo>
                  <a:lnTo>
                    <a:pt x="80937" y="137325"/>
                  </a:lnTo>
                  <a:lnTo>
                    <a:pt x="98552" y="100025"/>
                  </a:lnTo>
                  <a:lnTo>
                    <a:pt x="126276" y="69469"/>
                  </a:lnTo>
                  <a:lnTo>
                    <a:pt x="161556" y="48361"/>
                  </a:lnTo>
                  <a:lnTo>
                    <a:pt x="201434" y="38341"/>
                  </a:lnTo>
                  <a:lnTo>
                    <a:pt x="215252" y="37680"/>
                  </a:lnTo>
                  <a:lnTo>
                    <a:pt x="4855565" y="37680"/>
                  </a:lnTo>
                  <a:lnTo>
                    <a:pt x="4896231" y="43688"/>
                  </a:lnTo>
                  <a:lnTo>
                    <a:pt x="4933543" y="61302"/>
                  </a:lnTo>
                  <a:lnTo>
                    <a:pt x="4964087" y="89027"/>
                  </a:lnTo>
                  <a:lnTo>
                    <a:pt x="4985207" y="124307"/>
                  </a:lnTo>
                  <a:lnTo>
                    <a:pt x="4995227" y="164185"/>
                  </a:lnTo>
                  <a:lnTo>
                    <a:pt x="4995888" y="178003"/>
                  </a:lnTo>
                  <a:lnTo>
                    <a:pt x="4995888" y="0"/>
                  </a:lnTo>
                  <a:lnTo>
                    <a:pt x="0" y="0"/>
                  </a:lnTo>
                  <a:lnTo>
                    <a:pt x="0" y="2938272"/>
                  </a:lnTo>
                  <a:lnTo>
                    <a:pt x="5071872" y="2938272"/>
                  </a:lnTo>
                  <a:lnTo>
                    <a:pt x="5071872" y="2825597"/>
                  </a:lnTo>
                  <a:lnTo>
                    <a:pt x="5071872" y="37680"/>
                  </a:lnTo>
                  <a:lnTo>
                    <a:pt x="5071872" y="0"/>
                  </a:lnTo>
                  <a:close/>
                </a:path>
              </a:pathLst>
            </a:custGeom>
            <a:solidFill>
              <a:srgbClr val="000000">
                <a:alpha val="10198"/>
              </a:srgbClr>
            </a:solidFill>
          </p:spPr>
          <p:txBody>
            <a:bodyPr bIns="0" lIns="0" rIns="0" rtlCol="0" tIns="0" wrap="square"/>
            <a:lstStyle/>
            <a:p>
              <a:pPr>
                <a:defRPr>
                  <a:latin typeface="Noto Sans JP"/>
                  <a:ea typeface="Noto Sans JP"/>
                  <a:cs typeface="Noto Sans JP"/>
                </a:defRPr>
              </a:pPr>
            </a:p>
          </p:txBody>
        </p:sp>
        <p:sp>
          <p:nvSpPr>
            <p:cNvPr id="14" name="object 14"/>
            <p:cNvSpPr/>
            <p:nvPr/>
          </p:nvSpPr>
          <p:spPr>
            <a:xfrm>
              <a:off x="6137178" y="3545717"/>
              <a:ext cx="4940300" cy="2806700"/>
            </a:xfrm>
            <a:custGeom>
              <a:avLst/>
              <a:gdLst/>
              <a:ahLst/>
              <a:cxnLst/>
              <a:rect b="b" l="l" r="r" t="t"/>
              <a:pathLst>
                <a:path h="2806700" w="4940300">
                  <a:moveTo>
                    <a:pt x="4789992" y="2806636"/>
                  </a:moveTo>
                  <a:lnTo>
                    <a:pt x="149687" y="2806636"/>
                  </a:lnTo>
                  <a:lnTo>
                    <a:pt x="142333" y="2806456"/>
                  </a:lnTo>
                  <a:lnTo>
                    <a:pt x="99266" y="2797889"/>
                  </a:lnTo>
                  <a:lnTo>
                    <a:pt x="60510" y="2777174"/>
                  </a:lnTo>
                  <a:lnTo>
                    <a:pt x="29461" y="2746124"/>
                  </a:lnTo>
                  <a:lnTo>
                    <a:pt x="8745" y="2707368"/>
                  </a:lnTo>
                  <a:lnTo>
                    <a:pt x="179" y="2664303"/>
                  </a:lnTo>
                  <a:lnTo>
                    <a:pt x="0" y="2656949"/>
                  </a:lnTo>
                  <a:lnTo>
                    <a:pt x="0" y="149687"/>
                  </a:lnTo>
                  <a:lnTo>
                    <a:pt x="6443" y="106234"/>
                  </a:lnTo>
                  <a:lnTo>
                    <a:pt x="25226" y="66525"/>
                  </a:lnTo>
                  <a:lnTo>
                    <a:pt x="54725" y="33976"/>
                  </a:lnTo>
                  <a:lnTo>
                    <a:pt x="92403" y="11394"/>
                  </a:lnTo>
                  <a:lnTo>
                    <a:pt x="135014" y="719"/>
                  </a:lnTo>
                  <a:lnTo>
                    <a:pt x="149687" y="0"/>
                  </a:lnTo>
                  <a:lnTo>
                    <a:pt x="4789992" y="0"/>
                  </a:lnTo>
                  <a:lnTo>
                    <a:pt x="4833444" y="6443"/>
                  </a:lnTo>
                  <a:lnTo>
                    <a:pt x="4873152" y="25226"/>
                  </a:lnTo>
                  <a:lnTo>
                    <a:pt x="4905703" y="54725"/>
                  </a:lnTo>
                  <a:lnTo>
                    <a:pt x="4928283" y="92403"/>
                  </a:lnTo>
                  <a:lnTo>
                    <a:pt x="4938960" y="135014"/>
                  </a:lnTo>
                  <a:lnTo>
                    <a:pt x="4939680" y="149687"/>
                  </a:lnTo>
                  <a:lnTo>
                    <a:pt x="4939680" y="2656949"/>
                  </a:lnTo>
                  <a:lnTo>
                    <a:pt x="4933234" y="2700400"/>
                  </a:lnTo>
                  <a:lnTo>
                    <a:pt x="4914451" y="2740110"/>
                  </a:lnTo>
                  <a:lnTo>
                    <a:pt x="4884953" y="2772659"/>
                  </a:lnTo>
                  <a:lnTo>
                    <a:pt x="4847274" y="2795241"/>
                  </a:lnTo>
                  <a:lnTo>
                    <a:pt x="4804665" y="2805916"/>
                  </a:lnTo>
                  <a:lnTo>
                    <a:pt x="4789992" y="2806636"/>
                  </a:lnTo>
                  <a:close/>
                </a:path>
              </a:pathLst>
            </a:custGeom>
            <a:solidFill>
              <a:srgbClr val="DBFBE7"/>
            </a:solidFill>
          </p:spPr>
          <p:txBody>
            <a:bodyPr bIns="0" lIns="0" rIns="0" rtlCol="0" tIns="0" wrap="square"/>
            <a:lstStyle/>
            <a:p>
              <a:pPr>
                <a:defRPr>
                  <a:latin typeface="Noto Sans JP"/>
                  <a:ea typeface="Noto Sans JP"/>
                  <a:cs typeface="Noto Sans JP"/>
                </a:defRPr>
              </a:pPr>
            </a:p>
          </p:txBody>
        </p:sp>
      </p:grpSp>
      <p:sp>
        <p:nvSpPr>
          <p:cNvPr id="15" name="object 15"/>
          <p:cNvSpPr txBox="1"/>
          <p:nvPr/>
        </p:nvSpPr>
        <p:spPr>
          <a:xfrm>
            <a:off x="5413317" y="1998722"/>
            <a:ext cx="1148080" cy="250190"/>
          </a:xfrm>
          <a:prstGeom prst="rect">
            <a:avLst/>
          </a:prstGeom>
        </p:spPr>
        <p:txBody>
          <a:bodyPr bIns="0" lIns="0" rIns="0" rtlCol="0" tIns="15240" vert="horz" wrap="square">
            <a:spAutoFit/>
          </a:bodyPr>
          <a:lstStyle/>
          <a:p>
            <a:pPr marL="12700">
              <a:lnSpc>
                <a:spcPct val="100000"/>
              </a:lnSpc>
              <a:spcBef>
                <a:spcPts val="120"/>
              </a:spcBef>
              <a:defRPr>
                <a:latin typeface="Noto Sans JP"/>
                <a:ea typeface="Noto Sans JP"/>
                <a:cs typeface="Noto Sans JP"/>
              </a:defRPr>
            </a:pPr>
            <a:r>
              <a:rPr b="0" dirty="0" spc="-10" sz="1450">
                <a:solidFill>
                  <a:srgbClr val="166533"/>
                </a:solidFill>
                <a:latin typeface="Noto Sans JP"/>
                <a:ea typeface="Noto Sans JP"/>
                <a:cs typeface="Noto Sans JP"/>
              </a:rPr>
              <a:t>今ここの習慣</a:t>
            </a:r>
            <a:endParaRPr sz="1450">
              <a:latin typeface="Noto Sans JP Thin"/>
              <a:cs typeface="Noto Sans JP Thin"/>
            </a:endParaRPr>
          </a:p>
        </p:txBody>
      </p:sp>
      <p:sp>
        <p:nvSpPr>
          <p:cNvPr id="16" name="object 16"/>
          <p:cNvSpPr txBox="1"/>
          <p:nvPr/>
        </p:nvSpPr>
        <p:spPr>
          <a:xfrm>
            <a:off x="4631698" y="2503917"/>
            <a:ext cx="2711450" cy="227965"/>
          </a:xfrm>
          <a:prstGeom prst="rect">
            <a:avLst/>
          </a:prstGeom>
        </p:spPr>
        <p:txBody>
          <a:bodyPr bIns="0" lIns="0" rIns="0" rtlCol="0" tIns="15875" vert="horz" wrap="square">
            <a:spAutoFit/>
          </a:bodyPr>
          <a:lstStyle/>
          <a:p>
            <a:pPr marL="12700">
              <a:lnSpc>
                <a:spcPct val="100000"/>
              </a:lnSpc>
              <a:spcBef>
                <a:spcPts val="125"/>
              </a:spcBef>
              <a:defRPr>
                <a:latin typeface="Noto Sans JP"/>
                <a:ea typeface="Noto Sans JP"/>
                <a:cs typeface="Noto Sans JP"/>
              </a:defRPr>
            </a:pPr>
            <a:r>
              <a:rPr b="0" dirty="0" spc="-5" sz="1300">
                <a:solidFill>
                  <a:srgbClr val="374050"/>
                </a:solidFill>
                <a:latin typeface="Noto Sans JP"/>
                <a:ea typeface="Noto Sans JP"/>
                <a:cs typeface="Noto Sans JP"/>
              </a:rPr>
              <a:t>日常に"今ここ"を取り入れる習慣を</a:t>
            </a:r>
            <a:endParaRPr sz="1300">
              <a:latin typeface="Noto Sans JP Thin"/>
              <a:cs typeface="Noto Sans JP Thin"/>
            </a:endParaRPr>
          </a:p>
        </p:txBody>
      </p:sp>
      <p:sp>
        <p:nvSpPr>
          <p:cNvPr id="17" name="object 17"/>
          <p:cNvSpPr txBox="1"/>
          <p:nvPr/>
        </p:nvSpPr>
        <p:spPr>
          <a:xfrm>
            <a:off x="8974676" y="1998722"/>
            <a:ext cx="961390" cy="250190"/>
          </a:xfrm>
          <a:prstGeom prst="rect">
            <a:avLst/>
          </a:prstGeom>
        </p:spPr>
        <p:txBody>
          <a:bodyPr bIns="0" lIns="0" rIns="0" rtlCol="0" tIns="15240" vert="horz" wrap="square">
            <a:spAutoFit/>
          </a:bodyPr>
          <a:lstStyle/>
          <a:p>
            <a:pPr marL="12700">
              <a:lnSpc>
                <a:spcPct val="100000"/>
              </a:lnSpc>
              <a:spcBef>
                <a:spcPts val="120"/>
              </a:spcBef>
              <a:defRPr>
                <a:latin typeface="Noto Sans JP"/>
                <a:ea typeface="Noto Sans JP"/>
                <a:cs typeface="Noto Sans JP"/>
              </a:defRPr>
            </a:pPr>
            <a:r>
              <a:rPr b="0" dirty="0" spc="-10" sz="1450">
                <a:solidFill>
                  <a:srgbClr val="166533"/>
                </a:solidFill>
                <a:latin typeface="Noto Sans JP"/>
                <a:ea typeface="Noto Sans JP"/>
                <a:cs typeface="Noto Sans JP"/>
              </a:rPr>
              <a:t>成長の実践</a:t>
            </a:r>
            <a:endParaRPr sz="1450">
              <a:latin typeface="Noto Sans JP Thin"/>
              <a:cs typeface="Noto Sans JP Thin"/>
            </a:endParaRPr>
          </a:p>
        </p:txBody>
      </p:sp>
      <p:sp>
        <p:nvSpPr>
          <p:cNvPr id="18" name="object 18"/>
          <p:cNvSpPr txBox="1"/>
          <p:nvPr/>
        </p:nvSpPr>
        <p:spPr>
          <a:xfrm>
            <a:off x="8096870" y="2434687"/>
            <a:ext cx="2716530" cy="568325"/>
          </a:xfrm>
          <a:prstGeom prst="rect">
            <a:avLst/>
          </a:prstGeom>
        </p:spPr>
        <p:txBody>
          <a:bodyPr bIns="0" lIns="0" rIns="0" rtlCol="0" tIns="12065" vert="horz" wrap="square">
            <a:spAutoFit/>
          </a:bodyPr>
          <a:lstStyle/>
          <a:p>
            <a:pPr indent="-1093470" marL="1105535" marR="5080">
              <a:lnSpc>
                <a:spcPct val="136900"/>
              </a:lnSpc>
              <a:spcBef>
                <a:spcPts val="95"/>
              </a:spcBef>
              <a:defRPr>
                <a:latin typeface="Noto Sans JP"/>
                <a:ea typeface="Noto Sans JP"/>
                <a:cs typeface="Noto Sans JP"/>
              </a:defRPr>
            </a:pPr>
            <a:r>
              <a:rPr b="0" dirty="0" spc="-10" sz="1300">
                <a:solidFill>
                  <a:srgbClr val="374050"/>
                </a:solidFill>
                <a:latin typeface="Noto Sans JP"/>
                <a:ea typeface="Noto Sans JP"/>
                <a:cs typeface="Noto Sans JP"/>
              </a:rPr>
              <a:t>小さな実践が、自己理解と成長につ</a:t>
            </a:r>
            <a:r>
              <a:rPr b="0" dirty="0" spc="-20" sz="1300">
                <a:solidFill>
                  <a:srgbClr val="374050"/>
                </a:solidFill>
                <a:latin typeface="Noto Sans JP"/>
                <a:ea typeface="Noto Sans JP"/>
                <a:cs typeface="Noto Sans JP"/>
              </a:rPr>
              <a:t>ながる</a:t>
            </a:r>
            <a:endParaRPr sz="1300">
              <a:latin typeface="Noto Sans JP Thin"/>
              <a:cs typeface="Noto Sans JP Thin"/>
            </a:endParaRPr>
          </a:p>
        </p:txBody>
      </p:sp>
      <p:sp>
        <p:nvSpPr>
          <p:cNvPr id="19" name="object 19"/>
          <p:cNvSpPr txBox="1"/>
          <p:nvPr/>
        </p:nvSpPr>
        <p:spPr>
          <a:xfrm>
            <a:off x="1109954" y="3748192"/>
            <a:ext cx="4483735" cy="1022985"/>
          </a:xfrm>
          <a:prstGeom prst="rect">
            <a:avLst/>
          </a:prstGeom>
        </p:spPr>
        <p:txBody>
          <a:bodyPr bIns="0" lIns="0" rIns="0" rtlCol="0" tIns="13970" vert="horz" wrap="square">
            <a:spAutoFit/>
          </a:bodyPr>
          <a:lstStyle/>
          <a:p>
            <a:pPr marL="12700">
              <a:lnSpc>
                <a:spcPct val="100000"/>
              </a:lnSpc>
              <a:spcBef>
                <a:spcPts val="110"/>
              </a:spcBef>
              <a:defRPr>
                <a:latin typeface="Noto Sans JP"/>
                <a:ea typeface="Noto Sans JP"/>
                <a:cs typeface="Noto Sans JP"/>
              </a:defRPr>
            </a:pPr>
            <a:r>
              <a:rPr dirty="0" spc="635" sz="2200">
                <a:solidFill>
                  <a:srgbClr val="15803C"/>
                </a:solidFill>
                <a:latin typeface="Noto Sans JP"/>
                <a:ea typeface="Noto Sans JP"/>
                <a:cs typeface="Noto Sans JP"/>
              </a:rPr>
              <a:t>♥ </a:t>
            </a:r>
            <a:r>
              <a:rPr b="0" baseline="1587" dirty="0" spc="89" sz="2625">
                <a:solidFill>
                  <a:srgbClr val="166533"/>
                </a:solidFill>
                <a:latin typeface="Noto Sans JP"/>
                <a:ea typeface="Noto Sans JP"/>
                <a:cs typeface="Noto Sans JP"/>
              </a:rPr>
              <a:t>1</a:t>
            </a:r>
            <a:r>
              <a:rPr b="0" baseline="1587" dirty="0" spc="-15" sz="2625">
                <a:solidFill>
                  <a:srgbClr val="166533"/>
                </a:solidFill>
                <a:latin typeface="Noto Sans JP"/>
                <a:ea typeface="Noto Sans JP"/>
                <a:cs typeface="Noto Sans JP"/>
              </a:rPr>
              <a:t>分の立ち止まり</a:t>
            </a:r>
            <a:endParaRPr baseline="1587" sz="2625">
              <a:latin typeface="Noto Sans JP Thin"/>
              <a:cs typeface="Noto Sans JP Thin"/>
            </a:endParaRPr>
          </a:p>
          <a:p>
            <a:pPr marL="12700" marR="5080">
              <a:lnSpc>
                <a:spcPct val="132200"/>
              </a:lnSpc>
              <a:spcBef>
                <a:spcPts val="1070"/>
              </a:spcBef>
              <a:defRPr>
                <a:latin typeface="Noto Sans JP"/>
                <a:ea typeface="Noto Sans JP"/>
                <a:cs typeface="Noto Sans JP"/>
              </a:defRPr>
            </a:pPr>
            <a:r>
              <a:rPr b="0" dirty="0" spc="-10" sz="1300">
                <a:solidFill>
                  <a:srgbClr val="374050"/>
                </a:solidFill>
                <a:latin typeface="Noto Sans JP"/>
                <a:ea typeface="Noto Sans JP"/>
                <a:cs typeface="Noto Sans JP"/>
              </a:rPr>
              <a:t>忙しい日々の中で、</a:t>
            </a:r>
            <a:r>
              <a:rPr b="0" dirty="0" spc="60" sz="1300">
                <a:solidFill>
                  <a:srgbClr val="374050"/>
                </a:solidFill>
                <a:latin typeface="Noto Sans JP"/>
                <a:ea typeface="Noto Sans JP"/>
                <a:cs typeface="Noto Sans JP"/>
              </a:rPr>
              <a:t>1</a:t>
            </a:r>
            <a:r>
              <a:rPr b="0" dirty="0" spc="-15" sz="1300">
                <a:solidFill>
                  <a:srgbClr val="374050"/>
                </a:solidFill>
                <a:latin typeface="Noto Sans JP"/>
                <a:ea typeface="Noto Sans JP"/>
                <a:cs typeface="Noto Sans JP"/>
              </a:rPr>
              <a:t>分でも立ち止まり、自分に戻る時間を</a:t>
            </a:r>
            <a:r>
              <a:rPr b="0" dirty="0" spc="-30" sz="1300">
                <a:solidFill>
                  <a:srgbClr val="374050"/>
                </a:solidFill>
                <a:latin typeface="Noto Sans JP"/>
                <a:ea typeface="Noto Sans JP"/>
                <a:cs typeface="Noto Sans JP"/>
              </a:rPr>
              <a:t>もつこと</a:t>
            </a:r>
            <a:endParaRPr sz="1300">
              <a:latin typeface="Noto Sans JP Thin"/>
              <a:cs typeface="Noto Sans JP Thin"/>
            </a:endParaRPr>
          </a:p>
        </p:txBody>
      </p:sp>
      <p:sp>
        <p:nvSpPr>
          <p:cNvPr id="20" name="object 20"/>
          <p:cNvSpPr txBox="1"/>
          <p:nvPr/>
        </p:nvSpPr>
        <p:spPr>
          <a:xfrm>
            <a:off x="6349008" y="3748192"/>
            <a:ext cx="4395470" cy="1022985"/>
          </a:xfrm>
          <a:prstGeom prst="rect">
            <a:avLst/>
          </a:prstGeom>
        </p:spPr>
        <p:txBody>
          <a:bodyPr bIns="0" lIns="0" rIns="0" rtlCol="0" tIns="13970" vert="horz" wrap="square">
            <a:spAutoFit/>
          </a:bodyPr>
          <a:lstStyle/>
          <a:p>
            <a:pPr marL="12700">
              <a:lnSpc>
                <a:spcPct val="100000"/>
              </a:lnSpc>
              <a:spcBef>
                <a:spcPts val="110"/>
              </a:spcBef>
              <a:defRPr>
                <a:latin typeface="Noto Sans JP"/>
                <a:ea typeface="Noto Sans JP"/>
                <a:cs typeface="Noto Sans JP"/>
              </a:defRPr>
            </a:pPr>
            <a:r>
              <a:rPr dirty="0" spc="370" sz="2200">
                <a:solidFill>
                  <a:srgbClr val="15803C"/>
                </a:solidFill>
                <a:latin typeface="Noto Sans JP"/>
                <a:ea typeface="Noto Sans JP"/>
                <a:cs typeface="Noto Sans JP"/>
              </a:rPr>
              <a:t></a:t>
            </a:r>
            <a:r>
              <a:rPr dirty="0" spc="360" sz="2200">
                <a:solidFill>
                  <a:srgbClr val="15803C"/>
                </a:solidFill>
                <a:latin typeface="Noto Sans JP"/>
                <a:ea typeface="Noto Sans JP"/>
                <a:cs typeface="Noto Sans JP"/>
              </a:rPr>
              <a:t> </a:t>
            </a:r>
            <a:r>
              <a:rPr b="0" baseline="1587" dirty="0" spc="-15" sz="2625">
                <a:solidFill>
                  <a:srgbClr val="166533"/>
                </a:solidFill>
                <a:latin typeface="Noto Sans JP"/>
                <a:ea typeface="Noto Sans JP"/>
                <a:cs typeface="Noto Sans JP"/>
              </a:rPr>
              <a:t>訪問看護の柱</a:t>
            </a:r>
            <a:endParaRPr baseline="1587" sz="2625">
              <a:latin typeface="Noto Sans JP Thin"/>
              <a:cs typeface="Noto Sans JP Thin"/>
            </a:endParaRPr>
          </a:p>
          <a:p>
            <a:pPr marL="12700">
              <a:lnSpc>
                <a:spcPct val="100000"/>
              </a:lnSpc>
              <a:spcBef>
                <a:spcPts val="1575"/>
              </a:spcBef>
              <a:defRPr>
                <a:latin typeface="Noto Sans JP"/>
                <a:ea typeface="Noto Sans JP"/>
                <a:cs typeface="Noto Sans JP"/>
              </a:defRPr>
            </a:pPr>
            <a:r>
              <a:rPr b="0" dirty="0" spc="-15" sz="1300">
                <a:solidFill>
                  <a:srgbClr val="374050"/>
                </a:solidFill>
                <a:latin typeface="Noto Sans JP"/>
                <a:ea typeface="Noto Sans JP"/>
                <a:cs typeface="Noto Sans JP"/>
              </a:rPr>
              <a:t>マインドフルネスは訪問看護を続けていくうえでの大切な</a:t>
            </a:r>
            <a:endParaRPr sz="1300">
              <a:latin typeface="Noto Sans JP Thin"/>
              <a:cs typeface="Noto Sans JP Thin"/>
            </a:endParaRPr>
          </a:p>
          <a:p>
            <a:pPr marL="12700">
              <a:lnSpc>
                <a:spcPct val="100000"/>
              </a:lnSpc>
              <a:spcBef>
                <a:spcPts val="500"/>
              </a:spcBef>
              <a:defRPr>
                <a:latin typeface="Noto Sans JP"/>
                <a:ea typeface="Noto Sans JP"/>
                <a:cs typeface="Noto Sans JP"/>
              </a:defRPr>
            </a:pPr>
            <a:r>
              <a:rPr b="0" dirty="0" spc="-25" sz="1300">
                <a:solidFill>
                  <a:srgbClr val="374050"/>
                </a:solidFill>
                <a:latin typeface="Noto Sans JP"/>
                <a:ea typeface="Noto Sans JP"/>
                <a:cs typeface="Noto Sans JP"/>
              </a:rPr>
              <a:t>柱となります</a:t>
            </a:r>
            <a:endParaRPr sz="1300">
              <a:latin typeface="Noto Sans JP Thin"/>
              <a:cs typeface="Noto Sans JP Thin"/>
            </a:endParaRPr>
          </a:p>
        </p:txBody>
      </p:sp>
      <p:pic>
        <p:nvPicPr>
          <p:cNvPr descr="成長" id="21" name="object 21"/>
          <p:cNvPicPr/>
          <p:nvPr/>
        </p:nvPicPr>
        <p:blipFill>
          <a:blip cstate="print" r:embed="rId8"/>
          <a:stretch>
            <a:fillRect/>
          </a:stretch>
        </p:blipFill>
        <p:spPr>
          <a:xfrm>
            <a:off x="6361709" y="4930324"/>
            <a:ext cx="4490618" cy="11974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2025-10-18T22:57:07Z</dcterms:created>
  <dcterms:modified xsi:type="dcterms:W3CDTF">2025-10-18T22:57:07Z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2025-10-18T00:00:00Z</vt:filetime>
  </property>
  <property fmtid="{D5CDD505-2E9C-101B-9397-08002B2CF9AE}" pid="3" name="LastSaved">
    <vt:filetime>2025-10-18T00:00:00Z</vt:filetime>
  </property>
  <property fmtid="{D5CDD505-2E9C-101B-9397-08002B2CF9AE}" pid="4" name="Producer">
    <vt:lpwstr>iText® Core 7.2.2 (AGPL version) ©2000-2022 iText Group NV</vt:lpwstr>
  </property>
</Properties>
</file>